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4"/>
  </p:sldMasterIdLst>
  <p:notesMasterIdLst>
    <p:notesMasterId r:id="rId63"/>
  </p:notesMasterIdLst>
  <p:handoutMasterIdLst>
    <p:handoutMasterId r:id="rId64"/>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Lst>
  <p:sldSz cx="12192000" cy="6858000"/>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42" userDrawn="1">
          <p15:clr>
            <a:srgbClr val="A4A3A4"/>
          </p15:clr>
        </p15:guide>
        <p15:guide id="2" pos="734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F56D711-5740-B45F-F798-D74622C9557A}" name="木野雅富" initials="雅木" userId="S::kino@primebrains.co.jp::f5186022-b7d5-4717-9916-e52cc22c498e" providerId="AD"/>
  <p188:author id="{1C9015C8-565D-5AF4-F89A-7C3B0B9CC0CB}" name="中尾幸志郎" initials="幸中" userId="S::nakao@primebrains.co.jp::b60c5717-f902-4a1d-a2fb-20e318f079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66E600"/>
    <a:srgbClr val="339966"/>
    <a:srgbClr val="339933"/>
    <a:srgbClr val="006666"/>
    <a:srgbClr val="006600"/>
    <a:srgbClr val="0000FF"/>
    <a:srgbClr val="00CC99"/>
    <a:srgbClr val="BCEFF6"/>
    <a:srgbClr val="0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40ECCD-B9BF-41E0-9332-4A05F5E005DA}" v="393" dt="2025-07-02T05:00:57.638"/>
    <p1510:client id="{B93A9564-95A6-424C-A561-15CBF766FF40}" v="961" dt="2025-07-02T06:43:52.522"/>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68" autoAdjust="0"/>
    <p:restoredTop sz="69231" autoAdjust="0"/>
  </p:normalViewPr>
  <p:slideViewPr>
    <p:cSldViewPr snapToGrid="0">
      <p:cViewPr varScale="1">
        <p:scale>
          <a:sx n="44" d="100"/>
          <a:sy n="44" d="100"/>
        </p:scale>
        <p:origin x="1568" y="20"/>
      </p:cViewPr>
      <p:guideLst>
        <p:guide orient="horz" pos="4042"/>
        <p:guide pos="734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78" d="100"/>
          <a:sy n="78" d="100"/>
        </p:scale>
        <p:origin x="3996"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 Id="rId69" Type="http://schemas.microsoft.com/office/2015/10/relationships/revisionInfo" Target="revisionInfo.xml"/><Relationship Id="rId7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6"/>
            <a:ext cx="2918621" cy="492922"/>
          </a:xfrm>
          <a:prstGeom prst="rect">
            <a:avLst/>
          </a:prstGeom>
        </p:spPr>
        <p:txBody>
          <a:bodyPr vert="horz" lIns="90508" tIns="45257" rIns="90508" bIns="45257"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15576" y="6"/>
            <a:ext cx="2918621" cy="492922"/>
          </a:xfrm>
          <a:prstGeom prst="rect">
            <a:avLst/>
          </a:prstGeom>
        </p:spPr>
        <p:txBody>
          <a:bodyPr vert="horz" lIns="90508" tIns="45257" rIns="90508" bIns="45257" rtlCol="0"/>
          <a:lstStyle>
            <a:lvl1pPr algn="r">
              <a:defRPr sz="1200"/>
            </a:lvl1pPr>
          </a:lstStyle>
          <a:p>
            <a:fld id="{A0CCAF01-6C61-4319-A231-A6B7179F9AFF}" type="datetimeFigureOut">
              <a:rPr kumimoji="1" lang="ja-JP" altLang="en-US" smtClean="0"/>
              <a:pPr/>
              <a:t>2025/7/3</a:t>
            </a:fld>
            <a:endParaRPr kumimoji="1" lang="ja-JP" altLang="en-US"/>
          </a:p>
        </p:txBody>
      </p:sp>
      <p:sp>
        <p:nvSpPr>
          <p:cNvPr id="4" name="フッター プレースホルダ 3"/>
          <p:cNvSpPr>
            <a:spLocks noGrp="1"/>
          </p:cNvSpPr>
          <p:nvPr>
            <p:ph type="ftr" sz="quarter" idx="2"/>
          </p:nvPr>
        </p:nvSpPr>
        <p:spPr>
          <a:xfrm>
            <a:off x="2" y="9371827"/>
            <a:ext cx="2918621" cy="492921"/>
          </a:xfrm>
          <a:prstGeom prst="rect">
            <a:avLst/>
          </a:prstGeom>
        </p:spPr>
        <p:txBody>
          <a:bodyPr vert="horz" lIns="90508" tIns="45257" rIns="90508" bIns="45257"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15576" y="9371827"/>
            <a:ext cx="2918621" cy="492921"/>
          </a:xfrm>
          <a:prstGeom prst="rect">
            <a:avLst/>
          </a:prstGeom>
        </p:spPr>
        <p:txBody>
          <a:bodyPr vert="horz" lIns="90508" tIns="45257" rIns="90508" bIns="45257" rtlCol="0" anchor="b"/>
          <a:lstStyle>
            <a:lvl1pPr algn="r">
              <a:defRPr sz="1200"/>
            </a:lvl1pPr>
          </a:lstStyle>
          <a:p>
            <a:fld id="{A9FFB456-FFFE-42AC-8E3C-A5C68F1E2A4C}" type="slidenum">
              <a:rPr kumimoji="1" lang="ja-JP" altLang="en-US" smtClean="0"/>
              <a:pPr/>
              <a:t>‹#›</a:t>
            </a:fld>
            <a:endParaRPr kumimoji="1" lang="ja-JP" altLang="en-US"/>
          </a:p>
        </p:txBody>
      </p:sp>
    </p:spTree>
    <p:extLst>
      <p:ext uri="{BB962C8B-B14F-4D97-AF65-F5344CB8AC3E}">
        <p14:creationId xmlns:p14="http://schemas.microsoft.com/office/powerpoint/2010/main" val="20987909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4" y="8"/>
            <a:ext cx="2918829" cy="493317"/>
          </a:xfrm>
          <a:prstGeom prst="rect">
            <a:avLst/>
          </a:prstGeom>
        </p:spPr>
        <p:txBody>
          <a:bodyPr vert="horz" lIns="90651" tIns="45329" rIns="90651" bIns="45329" rtlCol="0"/>
          <a:lstStyle>
            <a:lvl1pPr algn="l">
              <a:defRPr sz="1200"/>
            </a:lvl1pPr>
          </a:lstStyle>
          <a:p>
            <a:endParaRPr kumimoji="1" lang="ja-JP" altLang="en-US"/>
          </a:p>
        </p:txBody>
      </p:sp>
      <p:sp>
        <p:nvSpPr>
          <p:cNvPr id="3" name="日付プレースホルダ 2"/>
          <p:cNvSpPr>
            <a:spLocks noGrp="1"/>
          </p:cNvSpPr>
          <p:nvPr>
            <p:ph type="dt" idx="1"/>
          </p:nvPr>
        </p:nvSpPr>
        <p:spPr>
          <a:xfrm>
            <a:off x="3815379" y="8"/>
            <a:ext cx="2918829" cy="493317"/>
          </a:xfrm>
          <a:prstGeom prst="rect">
            <a:avLst/>
          </a:prstGeom>
        </p:spPr>
        <p:txBody>
          <a:bodyPr vert="horz" lIns="90651" tIns="45329" rIns="90651" bIns="45329" rtlCol="0"/>
          <a:lstStyle>
            <a:lvl1pPr algn="r">
              <a:defRPr sz="1200"/>
            </a:lvl1pPr>
          </a:lstStyle>
          <a:p>
            <a:fld id="{8ABCF403-6AA9-4012-B398-F2A439866552}" type="datetimeFigureOut">
              <a:rPr kumimoji="1" lang="ja-JP" altLang="en-US" smtClean="0"/>
              <a:pPr/>
              <a:t>2025/7/2</a:t>
            </a:fld>
            <a:endParaRPr kumimoji="1" lang="ja-JP" altLang="en-US"/>
          </a:p>
        </p:txBody>
      </p:sp>
      <p:sp>
        <p:nvSpPr>
          <p:cNvPr id="4" name="スライド イメージ プレースホルダ 3"/>
          <p:cNvSpPr>
            <a:spLocks noGrp="1" noRot="1" noChangeAspect="1"/>
          </p:cNvSpPr>
          <p:nvPr>
            <p:ph type="sldImg" idx="2"/>
          </p:nvPr>
        </p:nvSpPr>
        <p:spPr>
          <a:xfrm>
            <a:off x="79375" y="739775"/>
            <a:ext cx="6577013" cy="3700463"/>
          </a:xfrm>
          <a:prstGeom prst="rect">
            <a:avLst/>
          </a:prstGeom>
          <a:noFill/>
          <a:ln w="12700">
            <a:solidFill>
              <a:prstClr val="black"/>
            </a:solidFill>
          </a:ln>
        </p:spPr>
        <p:txBody>
          <a:bodyPr vert="horz" lIns="90651" tIns="45329" rIns="90651" bIns="45329" rtlCol="0" anchor="ctr"/>
          <a:lstStyle/>
          <a:p>
            <a:endParaRPr lang="ja-JP" altLang="en-US"/>
          </a:p>
        </p:txBody>
      </p:sp>
      <p:sp>
        <p:nvSpPr>
          <p:cNvPr id="5" name="ノート プレースホルダ 4"/>
          <p:cNvSpPr>
            <a:spLocks noGrp="1"/>
          </p:cNvSpPr>
          <p:nvPr>
            <p:ph type="body" sz="quarter" idx="3"/>
          </p:nvPr>
        </p:nvSpPr>
        <p:spPr>
          <a:xfrm>
            <a:off x="673577" y="4686505"/>
            <a:ext cx="5388610" cy="4439841"/>
          </a:xfrm>
          <a:prstGeom prst="rect">
            <a:avLst/>
          </a:prstGeom>
        </p:spPr>
        <p:txBody>
          <a:bodyPr vert="horz" lIns="90651" tIns="45329" rIns="90651" bIns="45329"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4" y="9371294"/>
            <a:ext cx="2918829" cy="493317"/>
          </a:xfrm>
          <a:prstGeom prst="rect">
            <a:avLst/>
          </a:prstGeom>
        </p:spPr>
        <p:txBody>
          <a:bodyPr vert="horz" lIns="90651" tIns="45329" rIns="90651" bIns="45329"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15379" y="9371294"/>
            <a:ext cx="2918829" cy="493317"/>
          </a:xfrm>
          <a:prstGeom prst="rect">
            <a:avLst/>
          </a:prstGeom>
        </p:spPr>
        <p:txBody>
          <a:bodyPr vert="horz" lIns="90651" tIns="45329" rIns="90651" bIns="45329" rtlCol="0" anchor="b"/>
          <a:lstStyle>
            <a:lvl1pPr algn="r">
              <a:defRPr sz="1200"/>
            </a:lvl1pPr>
          </a:lstStyle>
          <a:p>
            <a:fld id="{DF5D73BC-EF0F-46C4-A01A-A879E50D2FC9}" type="slidenum">
              <a:rPr kumimoji="1" lang="ja-JP" altLang="en-US" smtClean="0"/>
              <a:pPr/>
              <a:t>‹#›</a:t>
            </a:fld>
            <a:endParaRPr kumimoji="1" lang="ja-JP" altLang="en-US"/>
          </a:p>
        </p:txBody>
      </p:sp>
    </p:spTree>
    <p:extLst>
      <p:ext uri="{BB962C8B-B14F-4D97-AF65-F5344CB8AC3E}">
        <p14:creationId xmlns:p14="http://schemas.microsoft.com/office/powerpoint/2010/main" val="3817850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はい、よろしくお願いします。今日は「AI時代の開発プロジェクトにおいて、ボトルネックは何か？」というテーマでお話しします。短い時間ですが、お付き合いください。</a:t>
            </a:r>
          </a:p>
          <a:p>
            <a:r>
              <a:t>最初に言っておくと、これは成功談ではなくて、私がいま考えている途中の思考実験です。気楽に聞いてください。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導入です。AIがこれだけ広く、当たり前に使われるようになって、私たちの開発プロジェクトにも入り込んできました。その結果、プロジェクトの性質、とりわけ「どこがボトルネック、つまり制約条件になるのか」が、従来から大きく変わってきていると感じています。</a:t>
            </a:r>
          </a:p>
          <a:p>
            <a:r>
              <a:t>ボトルネックって、プロジェクトを進めるうえで決定的に重要なんですね。制約理論、Theory of Constraints が言うように、システム全体のスループットは、いちばん細い部分、つまりボトルネックで決まります。だから、いくらAIで個々の作業が速くなっても、ボトルネックが解消されない限り、プロジェクト全体の生産性は上がらない。逆に言えば、そこが詰まればプロジェクト全体が遅れる、というリスクの所在でもあるわけ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そこで今日は、AI時代の開発プロジェクトでボトルネックになっているのは何か、そしてそれを解消するにはどんな方法があり得るか、についてお話しします。</a:t>
            </a:r>
          </a:p>
          <a:p>
            <a:r>
              <a:t>最初にお断りしておくと、これは「実際にうまくいきました」という成功談ではありません。私自身もまだ考えている途中で、あくまで思考実験であり、理想論です。これからAI時代の開発に私たちが適合していくうえで直面する問題を考える、その議論のきっかけになればという気持ちで話します。私の言うことには誤りや勘違いも多々含まれているかもしれません。それも含めて、たたき台として受け取っていただければ幸い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先に結論を言ってしまいます。AI時代の開発でボトルネックは何か、という問いに対する私の答えは、「人間の判断」です。</a:t>
            </a:r>
          </a:p>
          <a:p>
            <a:r>
              <a:t>人間の判断が必要になるのは、SDLC、ソフトウェアを作る工程の中でいうと、大きく「要件定義」と「レビュー」の2か所だと考えています。</a:t>
            </a:r>
          </a:p>
          <a:p>
            <a:r>
              <a:t>これだけAIが賢くなって、設計・実装・テストといった作業が劇的に速くなっても、要件定義やレビューで人間が判断する部分は、やっぱり残り続けるんですね。そして、その部分がボトルネックになる。これは、このあと説明する待ち行列の構造から理屈のうえでも導けますし、実際にAI駆動開発を現場でやっている方の体感とも一致するんじゃないかな、と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では、なぜ人間がボトルネックになるのか。一見当たり前のようですが、ちょっと立ち止まって整理します。</a:t>
            </a:r>
          </a:p>
          <a:p>
            <a:r>
              <a:t>理由はAIの「コストと並列性」にあります。いまやAIの推論コストは大きく下がって、多くの場面で、開発者一人の人件費より、エージェントを動かすコストのほうが安く済む。そして何より、お金を惜しまなければ、いくらでも並列に増やせるんですね。だからAIが担う設計や実装の作業は、どんどん並列化して高速に進められる。</a:t>
            </a:r>
          </a:p>
          <a:p>
            <a:r>
              <a:t>もちろん、モデルの選択やタスクの性質、使い方によってコストは大きく変わります。なので、ここでの肝は「安い」ことよりむしろ「並列に増やせる」ことだと思ってください。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方で、レビュー、とりわけ最終的な品質判断の責任は人間に残ります。AIに一次レビューをさせること自体はできるんですが、その結果を引き受けて「これでよし」と承認する判断は、いまのところ人間に残るんですね。</a:t>
            </a:r>
          </a:p>
          <a:p>
            <a:r>
              <a:t>そうすると、高速に量産されてくる成果物に対して、人間という限られた窓口の前に、待ち行列ができるんです。待ち行列理論が教えるとおり、速い生産者が、単一の遅い処理窓口にどんどん仕事を流し込めば、待ち時間は跳ね上がる。処理窓口の稼働率が上限に近づくほど、待ち時間は急激に伸びていく。これがボトルネックの正体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間が担うのは、さっき言ったとおり大きく2つです。一つは「何を作るか」、意図や要件を決めること。これが要件定義で、人間が起点になる発案ですね。もう一つは、その意図に照らして、AIが生成したもの、設計・実装・テスト、それから設計判断そのものが、正しいかを判定すること。これがレビューで、AIの出力を承認したり差し戻したりする評価です。</a:t>
            </a:r>
          </a:p>
          <a:p>
            <a:r>
              <a:t>今日はこのうち、要件定義はいったん脇に置いて、レビューに焦点を当てます。レビューのボトルネックをどう解消すればいいのか、そこを中心にお話しします。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レビューのボトルネックを解消する方法は、大きく3つあると考えています。</a:t>
            </a:r>
          </a:p>
          <a:p>
            <a:r>
              <a:t>1つ目は、人間のレビュワーの数を増やす。2つ目は、一人あたりのレビューを速く捌けるようにする。3つ目は、そもそもレビューすべき範囲を狭める、です。</a:t>
            </a:r>
          </a:p>
          <a:p>
            <a:r>
              <a:t>1つ目の「レビュワーを増やす」は、いちばん分かりやすい。待ち行列は窓口を増やせば速く捌ける、というのは常識的な対応ですよね。</a:t>
            </a:r>
          </a:p>
          <a:p>
            <a:r>
              <a:t>2つ目の「一人あたりを速く」には、二つの方向があります。一つは、一人ひとりのレビュー能力そのものを上げること。もう一つは、レビューの負荷を下げる工夫をすること。後者の例だと、レビューしやすいダッシュボードを用意するとか、AIの出力が読みづらいなら読みやすい形に変換する仕組みを作る、といったやり方ですね。</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ただ、方法1と2には共通の限界があります。どちらも「希少な人間のレビュー能力」を増やす、磨く方向で、効果は人間という資源の量に対して線形にしか伸びない。人間は希少資源ですから、頭数を増やすのも、一人の処理速度を上げ続けるのも、いずれ頭打ちになります。</a:t>
            </a:r>
          </a:p>
          <a:p>
            <a:r>
              <a:t>これに対して、3つ目の「レビューすべき範囲を狭める」は、毛色が違うんです。人間の能力を増やすんじゃなくて、そもそも人間がレビューしなきゃいけない対象を減らす。待ち行列に並ぶ仕事の量そのものを、構造的に削る方向です。だから私は、3つのなかでこれが最も費用対効果が高いんじゃないか、と考えています。あくまで見立てですが、制約に線形にしか効かない1・2より、制約にかかる負荷そのものを減らす3のほうが、効きが大きいと見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具体的には、静的解析や自動テストなど、機械的・決定論的なプログラムで処理できる部分は、そちらで処理する、ということです。</a:t>
            </a:r>
          </a:p>
          <a:p>
            <a:r>
              <a:t>つまり、こういう発想です。仕様やテストケースが正しいかどうかは、人間がレビューする。でも、そのテストに通る形で実装ができていれば、実装を一行ずつ人間が読む必要は、大きく減らせる。こうやってレビューの対象を絞り込んでいく、という考え方ですね。</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ただし、ここが大事なんですが、制約理論が教えるとおり、ボトルネックは解消すると消えてなくなるんじゃなくて、次に遅い工程へ移動します。レビュー範囲をテストで狭めても、今度は「そのテストや仕様自体が正しいか」を人間がレビューする必要が残る。つまりボトルネックは消えないんです。</a:t>
            </a:r>
          </a:p>
          <a:p>
            <a:r>
              <a:t>変わるのはレビューの「対象」です。「AIが量産した実装すべて」から、「人間の意図を表す、より小さく安定した面」へと移っていく。狙いはボトルネックを消すことじゃなくて、AIに委譲できる領域を広げて、人間の責務をより小さな面へ移すこと。じゃあ、その「小さな面」をどう作るのか。それが次の話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人間がやらないとどうしようもない部分は、繰り返しになりますが、「何を作るかを決めること」と、「機械的には判定できない正しさ、たとえば設計判断の良し悪しを見極めること」です。逆に言えば、要件や仕様に関する判断が関わるテストを自動化できれば、人間がレビューすべき範囲は、かなり狭められるはずなんですね。</a:t>
            </a:r>
          </a:p>
          <a:p>
            <a:r>
              <a:t>ここから、その観点で3種類のテストを順番に見ていきます。これらは「人間の意図がどこに宿るか」で分けた3つの面、シナリオ・普遍条件・設計判断、に対応しています。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まず最初にやりたくなるのが、シナリオテストです。いわゆる総合テストとか受け入れテストにあたるものですね。</a:t>
            </a:r>
          </a:p>
          <a:p>
            <a:r>
              <a:t>最終的にユーザーが実際の業務でシステムを使う場面を想定して、そのシナリオの中で、システムが自分の意図したとおりに動くか、現実においてちゃんと役に立つ形で機能するかを確かめる。それがシナリオテストです。これを書くことで、必要な要件の見落としがないかを確認できて、同時に、要件どおりにシステムが動くかも検証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具体例を一つ。私が個人的に作っている Moira、モイラというプロジェクト管理システムでは、受け入れシナリオを「振る舞い」と「画面の変化」の形で書き起こしています。</a:t>
            </a:r>
          </a:p>
          <a:p>
            <a:r>
              <a:t>たとえば「進行中のタスクを、もう不要として、正直にキャンセルする」、達成率100%に偽装してクローズしたりはしない、というシナリオ。これを When / Then で書くと、こうなります。</a:t>
            </a:r>
          </a:p>
          <a:p>
            <a:r>
              <a:t>開発者が、進行中のタスクTを「もう不要」と判断して、理由を付けてキャンセルする。すると、Tはアクティブな一覧から消える。「キャンセルされた、理由付き」と画面ではっきり分かって、終端で、後からまた現れない。すでに費やした3人日は「100%偽装」にはされず、実コストとして正直に残る。出来高、EVは増えない。そしてTは削除されず、誰がいつ何の理由でキャンセルしたかが履歴に残る。こういう振る舞いですね。</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これを画面の変化、Before から After で見るとこうです。進行中で3人日消費済みの実装タスクTが、キャンセル後は「キャンセル・理由付き」と表示されて、各キューから消える。出来高EVは増えない、「とりあえず100%にしてクローズ」をしないからです。実コストの3人日はそのまま残る、コストは事実だから消さない。こういう形ですね。</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ポイントは役割分担です。人間は、この「振る舞い」と「画面の変化」をレビューするだけでいい。「うん、キャンセルしたらこう動いてほしいよね」と、意図どおりか確認する。そして、これを実際のE2E自動テストに書き起こして、実行してグリーンになるか確かめる作業は、AIに任せる。こういうすみ分けができるんじゃないか、という話です。これによって、人間がレビューすべき範囲は、確実に狭まり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一つ、「シナリオは人間がレビューして意図どおりだと確認できたとして、AIがそのシナリオを正確に反映した自動テストを、本当に書けるのか、信頼できるのか？」という疑問を持つ方もいると思います。これはもっともな疑問です。</a:t>
            </a:r>
          </a:p>
          <a:p>
            <a:r>
              <a:t>私の見解はこうです。シナリオを考える作業は、現実の業務とシステムをつなぐ橋渡しで、振る舞いが妥当かを見極める作業。ここは人間にしかできない。一方で、いったん固まったシナリオをテストコードに落とす作業は、自然言語の意図を実行可能な形へ写し取る作業で、比較的AIが力を発揮しやすいところです。</a:t>
            </a:r>
          </a:p>
          <a:p>
            <a:r>
              <a:t>ただし、ここが大事なんですが、「信頼してよい」は「検証を捨ててよい」という意味じゃありません。</a:t>
            </a:r>
          </a:p>
          <a:p>
            <a:r>
              <a:t>信頼してよい理由は、E2Eには機械的な歯止めがあるからです。AIが書いたテストは実システムに対して実際に走って、グリーンかレッドかが出る。翻訳をしくじれば、多くの場合テストが落ちて気づける。この「実行して確かめられる」点が、AIの推論が介在する照合より信頼を置きやすい理由です。</a:t>
            </a:r>
          </a:p>
          <a:p>
            <a:r>
              <a:t>一方で、検証を捨ててよいとならないのは、テストがグリーンでも間違っていることはあるから。何も検証していない空回りのアサーションを書いてしまうとか、そもそも仕様の一部をテストし忘れるとか、取りこぼしは起こります。テストはバグの存在を示せても、不在を証明することはできない。ダイクストラの有名な言葉ですね。だから実務では、AIが書いたテストやプロパティそれ自体を、別のエージェントの敵対的レビューや人間のレビューにかける。これが現実的な落としどころだ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じゃあ、E2Eを書けばそれで十分かというと、まだまだ不十分なんです。</a:t>
            </a:r>
          </a:p>
          <a:p>
            <a:r>
              <a:t>E2Eって、しょせん具体的なシナリオの寄せ集めなんですね。具体例を有限個並べるアプローチである以上、入力の組み合わせを網羅し尽くすことはできない。</a:t>
            </a:r>
          </a:p>
          <a:p>
            <a:r>
              <a:t>じゃあ、シナリオテストだけだとどんなケースを見逃すか。それは、システムが持つべき普遍的な条件、どんなシナリオであっても必ず成り立っていなきゃいけない、前提条件のようなものです。これはE2Eテストでは確認しきれません。</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たとえば Moira には、こんな普遍条件があります。「達成率、EV%は、必ず0〜100%の範囲に収まる」。それから「イベントの記録順を入れ替えても、導出される結果はまったく同じになる」、同じ時刻・同じIDの並びを保つかぎり、ですね。</a:t>
            </a:r>
          </a:p>
          <a:p>
            <a:r>
              <a:t>こういう性質は、特定のシナリオをいくら積み上げても確かめきれない。シナリオテストは「タスクをキャンセルしたら達成率が上がる」みたいな一つの具体例を検証するものですが、「どんな入力の組み合わせでも達成率が100%を超えない」とか、「記録の順番によらず結果が一意に決まる」ことは、その守備範囲の外にあるんです。だから見落と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この問題への解決策が、プロパティベーステストです。</a:t>
            </a:r>
          </a:p>
          <a:p>
            <a:r>
              <a:t>これまで慣れ親しんできた機能テストは、基本的にエグザンプル、具体例ベースのテストです。違いはこの表のとおり。エグザンプルベースは、具体的な入力を一つ用意して、その出力が期待値と一致するか確かめる。「AをしてBをしたら結果はこの値」という書き方で、入力は人が手で用意した数例だけ。分かりやすいけど、用意した一例しか踏めない、つまり想像の範囲しかテストできない。</a:t>
            </a:r>
          </a:p>
          <a:p>
            <a:r>
              <a:t>プロパティベースは、「どんな入力でも成り立つべき性質」を宣言する。入力はフレームワークが自動で大量にランダム生成して試してくれて、人が思いつかない組み合わせ、順序の入れ替えや極端な値まで探索して、反例が見つかれば最小化して示してくれる。弱みは、「成り立つべき普遍条件」を抽出するのが難しいこと。</a:t>
            </a:r>
          </a:p>
          <a:p>
            <a:r>
              <a:t>結局、エグザンプルベースはエンジニアが想像できた範囲しか確かめられない。プロパティベースは、人間が見落とす組み合わせまで自動で突いてくれる。だからシナリオテストの穴を埋められる。強調したいのは、E2EとPBTはどっちか一方で足りるものじゃなくて、相補的だ、ということ。守備範囲が違うので、両方要り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なお補足すると、プロパティベーステストは、AI時代に生まれた新しい手法じゃなくて、20年以上前からある考え方です。広く知られる QuickCheck の論文は2000年の発表。じゃあ、なんでこれまで爆発的には普及しなかったかというと、理由の一つが「システムの普遍条件を人間が抽出する」という作業の難しさでした。ほかにも、テストデータ生成器の設計の難しさとか、障壁はいくつかあります。</a:t>
            </a:r>
          </a:p>
          <a:p>
            <a:r>
              <a:t>で、その「普遍条件の抽出」は、AIが提案を助けやすい作業でもあるんですね。だから、AIをうまく使えば、これまでの障壁の一つは下げられるんじゃないか、と考えています。ただし、ここでも「信頼するが検証する」は同じ。AIが普遍条件を提案できることと、それが正しい普遍条件であることは別問題なので、AIが起案したプロパティは、やっぱり人間が一つずつレビューして承認します。AIによってPBTがやりやすくなる、という見立て自体は、まだ私にとっては仮説の段階で、これから実証する必要があると思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で、プロパティベーステストでシステムの普遍条件を、シナリオテストで現実の業務に接地する有限のシナリオを、それぞれ検証できました。じゃあこれで十分か。残念ながら、まだ取りこぼす領域があるんです。</a:t>
            </a:r>
          </a:p>
          <a:p>
            <a:r>
              <a:t>それが設計判断です。機能テストやシナリオテストでは、たとえば「保守性の高いシステムにするために、こういう設計方針で進めよう」と決めた部分は検証できません。システムは、その設計判断を守っていても守っていなくても、機能としては同じように動いちゃうからです。</a:t>
            </a:r>
          </a:p>
          <a:p>
            <a:r>
              <a:t>Moira を例にとります。Moira には「計算の土台と、計算そのものを分ける」という最上位の設計原則があります。土台はシステムの中核で、構造・不変条件・仕組みだけを持って、評価・値・計算式はすべて下流に持たせる、という方針。これを守らないと、同じ指標が複数の場所で別々に計算されて、いわゆる「二つの真実」が生まれてしまう。</a:t>
            </a:r>
          </a:p>
          <a:p>
            <a:r>
              <a:t>でも、この方針が守られているかどうかは、シナリオテストでは分からないんです。画面に出る数字が正しいかはテストできても、その数字が「土台で一度だけ計算されたもの」なのか「画面側でこっそり再計算されたもの」なのかは、振る舞いテストからは見えない。</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そして、この設計判断のなかにも、自動テストにできるものと、できないものがあります。</a:t>
            </a:r>
          </a:p>
          <a:p>
            <a:r>
              <a:t>できる例。「土台は下流の計算に依存してはならない」、さっきの設計原則ですね。これは依存関係を機械的にチェックする、アーキテクチャ適合性テスト、fitness関数で打ち取れます。Moira では静的解析ツールで、循環依存の禁止とか、土台が計算側を取り込まない、といった依存方向のルールをCIで動かしています。それから「記録は追記専用、削除APIを持たない、イベントの種類は4つだけ」。このうち削除APIを持たないこと、イベント種別が4つに固定されていることは、型テストで機械的に保証できる。さらに「過去を書き換えず、同じ記録なら同じ結果が再現される」という追記専用の性質は、さっきのプロパティベーステストで確かめます。</a:t>
            </a:r>
          </a:p>
          <a:p>
            <a:r>
              <a:t>一方、自動テストにしづらい例。「人のスキルや習熟度をモデル化しない」。これは、あえて“やらない”という判断です。こういう“不在”を従来のテストで確かめるのは難しいんですが、AIに照合させることはできる。コードのなかに本当にスキルの項目が無いか、割当を自動で算出する経路が無いかを、AIがコードベースを読んで確認する。“無いこと”を確かめるので、私は“負の照合”と呼んでいます。ただ、ここはE2Eのとき以上に慎重であるべきで、“無いことの確認”は本質的に難しいし、実行による機械的な歯止めもありません。だからあくまで“ある程度”の信頼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理すると、こうです。設計判断そのものが正しいか、YesかNoか、これは人間が一つひとつレビューする。その判断が実際にコードベースへ落とし込まれているか、これは、自動テスト、fitness関数・型テスト・PBTで打ち取れるものは打ち取る。難しいものはAIに照合させる。それでも信頼しきれない部分は、人間が目で見て確認する。</a:t>
            </a:r>
          </a:p>
          <a:p>
            <a:r>
              <a:t>ちなみに設計判断のなかには、そもそもテスト対象が定義上存在しないものもあります。たとえば「作業をどこまで細かく分解するか、その粒度は規則で縛らず人間の判断に委ねる」みたいな判断。こういうのは自動テストにもAI照合にもなじまなくて、純粋に人間がレビューするしか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まとめです。ここまで、AI時代のボトルネックは人間のレビュー、最終判断であること、そしてそれを解消するには「人間がレビューすべき範囲を狭める」のが最もレバレッジが効くこと、をお話ししてきました。そしてそれは、ボトルネックを消すんじゃなくて、人間が立つ場所を、より小さく安定した面へ移すことだ、とも言いました。</a:t>
            </a:r>
          </a:p>
          <a:p>
            <a:r>
              <a:t>そのためには、決定論的なプログラムで品質を機械的に裏打ちして、人間のレビュー対象を削っていく、という考え方が軸になります。静的解析やリントもその一部ですが、いちばん大きな領域はやっぱり自動テスト。なかでも肝になるのは、人間の意図がきちんとテストに反映されること。だからこそ、それを①E2E、②プロパティベーステスト、③設計判断の検証、という形に落とし込むのが重要だ、という話で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じゃあ、これらを踏まえると開発の流れはどうなるのか。最後にその全体像を、Moira での実際のやり方を例にお話しします。</a:t>
            </a:r>
          </a:p>
          <a:p>
            <a:r>
              <a:t>Moira では、まず人間とAIが対話しながら、要件定義書にあたるものを「起点」として作り上げるところから、すべてが始まります。さっき「脇に置く」と言った要件定義も、流れのなかではここで登場します。ただ、この起点となるドキュメントはかなり抽象的で、ブラッシュアップを重ねるうちに、人間が直接読んで理解するのが難しくなっていく。</a:t>
            </a:r>
          </a:p>
          <a:p>
            <a:r>
              <a:t>そこで、これを人間がレビューしやすい3つの面に分割します。1つ目はシナリオ、受け入れシナリオ集で、外的妥当性、作るべきものを作れているか。2つ目はプロパティの一覧、普遍条件の目録で、内的整合性、どんなときも破れない前提が守られているか。3つ目は設計判断の一覧で、構造的健全性、保守性などの判断が筋を通しているか。</a:t>
            </a:r>
          </a:p>
          <a:p>
            <a:r>
              <a:t>そして人間は、「このシナリオは私の意図どおりか」「このプロパティや設計判断はYesかNoか」を、自分の目で一つずつレビューします。ここが人間の所有する領域、さっき言った「小さく安定した面」です。その先、これらを元にテストを書き起こす作業はAIが行って、テストの合否は決定論的に確認されていく。だからここで品質は、ある程度まで機械的に裏打ちされる。もちろん、テストが通ることは欠陥の不在を証明するものではありません。それでも、人間が一行ずつ実装を追う代わりに、意図そのものをレビューする場所へ立てる。これが私の考える、一つの理想的な開発の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繰り返しますが、これはあくまで一つの理想論で、いま私が個人的に考えていることにすぎません。「いや、ここは違うんじゃないか」「ここはまだクリアできていないんじゃないか」、そうした議論のきっかけになれば嬉しいです。これを読んで、聞いて、何か考えたこと、ご意見・ご感想があれば、ぜひお寄せください。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補足のスライドです。本編で触れた一般理論や、記事化にあたって後から裏取りした出典をまとめています。推論コストの低下や、レビューが律速になるという話の傍証、AIとPBTの研究動向など、もし質問があればこのあたりを参照してください。Moira の具体例は、いまのところ未公開の個人プロジェクトの内部ドキュメントに基づいています。）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10" name="テキスト プレースホルダ 9"/>
          <p:cNvSpPr>
            <a:spLocks noGrp="1"/>
          </p:cNvSpPr>
          <p:nvPr>
            <p:ph type="body" sz="quarter" idx="13" hasCustomPrompt="1"/>
          </p:nvPr>
        </p:nvSpPr>
        <p:spPr>
          <a:xfrm>
            <a:off x="571502" y="357188"/>
            <a:ext cx="3714751" cy="500044"/>
          </a:xfrm>
        </p:spPr>
        <p:txBody>
          <a:bodyPr>
            <a:noAutofit/>
          </a:bodyPr>
          <a:lstStyle>
            <a:lvl1pPr>
              <a:buNone/>
              <a:defRPr sz="2400">
                <a:latin typeface="Meiryo UI" panose="020B0604030504040204" pitchFamily="50" charset="-128"/>
                <a:ea typeface="Meiryo UI" panose="020B0604030504040204" pitchFamily="50" charset="-128"/>
              </a:defRPr>
            </a:lvl1pPr>
          </a:lstStyle>
          <a:p>
            <a:pPr lvl="0"/>
            <a:r>
              <a:rPr kumimoji="1" lang="ja-JP" altLang="en-US" dirty="0"/>
              <a:t>相手先</a:t>
            </a:r>
          </a:p>
        </p:txBody>
      </p:sp>
      <p:sp>
        <p:nvSpPr>
          <p:cNvPr id="12" name="テキスト プレースホルダ 9">
            <a:extLst>
              <a:ext uri="{FF2B5EF4-FFF2-40B4-BE49-F238E27FC236}">
                <a16:creationId xmlns:a16="http://schemas.microsoft.com/office/drawing/2014/main" id="{6F4ED16F-8B2B-4945-88C7-469172CAAAEF}"/>
              </a:ext>
            </a:extLst>
          </p:cNvPr>
          <p:cNvSpPr>
            <a:spLocks noGrp="1"/>
          </p:cNvSpPr>
          <p:nvPr>
            <p:ph type="body" sz="quarter" idx="14" hasCustomPrompt="1"/>
          </p:nvPr>
        </p:nvSpPr>
        <p:spPr>
          <a:xfrm>
            <a:off x="571501" y="2207732"/>
            <a:ext cx="11250453" cy="500044"/>
          </a:xfrm>
        </p:spPr>
        <p:txBody>
          <a:bodyPr>
            <a:normAutofit/>
          </a:bodyPr>
          <a:lstStyle>
            <a:lvl1pPr>
              <a:buNone/>
              <a:defRPr sz="2800">
                <a:latin typeface="Meiryo UI" panose="020B0604030504040204" pitchFamily="50" charset="-128"/>
                <a:ea typeface="Meiryo UI" panose="020B0604030504040204" pitchFamily="50" charset="-128"/>
              </a:defRPr>
            </a:lvl1pPr>
          </a:lstStyle>
          <a:p>
            <a:pPr lvl="0"/>
            <a:r>
              <a:rPr kumimoji="1" lang="ja-JP" altLang="en-US" dirty="0"/>
              <a:t>資料名</a:t>
            </a:r>
          </a:p>
        </p:txBody>
      </p:sp>
      <p:sp>
        <p:nvSpPr>
          <p:cNvPr id="18" name="正方形/長方形 17">
            <a:extLst>
              <a:ext uri="{FF2B5EF4-FFF2-40B4-BE49-F238E27FC236}">
                <a16:creationId xmlns:a16="http://schemas.microsoft.com/office/drawing/2014/main" id="{82534F60-E857-4011-A175-69810582596E}"/>
              </a:ext>
            </a:extLst>
          </p:cNvPr>
          <p:cNvSpPr/>
          <p:nvPr userDrawn="1"/>
        </p:nvSpPr>
        <p:spPr>
          <a:xfrm>
            <a:off x="571502" y="2718428"/>
            <a:ext cx="11250455" cy="76531"/>
          </a:xfrm>
          <a:prstGeom prst="rect">
            <a:avLst/>
          </a:prstGeom>
          <a:gradFill flip="none" rotWithShape="1">
            <a:gsLst>
              <a:gs pos="17000">
                <a:schemeClr val="bg1"/>
              </a:gs>
              <a:gs pos="50000">
                <a:srgbClr val="808080">
                  <a:alpha val="16000"/>
                </a:srgbClr>
              </a:gs>
              <a:gs pos="100000">
                <a:srgbClr val="66E60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latin typeface="Meiryo UI" panose="020B0604030504040204" pitchFamily="50" charset="-128"/>
              <a:ea typeface="Meiryo UI" panose="020B0604030504040204" pitchFamily="50" charset="-128"/>
            </a:endParaRPr>
          </a:p>
        </p:txBody>
      </p:sp>
      <p:sp>
        <p:nvSpPr>
          <p:cNvPr id="23" name="テキスト プレースホルダ 9">
            <a:extLst>
              <a:ext uri="{FF2B5EF4-FFF2-40B4-BE49-F238E27FC236}">
                <a16:creationId xmlns:a16="http://schemas.microsoft.com/office/drawing/2014/main" id="{813F0D99-A8E4-4608-8D50-143CBB247D8C}"/>
              </a:ext>
            </a:extLst>
          </p:cNvPr>
          <p:cNvSpPr>
            <a:spLocks noGrp="1"/>
          </p:cNvSpPr>
          <p:nvPr>
            <p:ph type="body" sz="quarter" idx="15" hasCustomPrompt="1"/>
          </p:nvPr>
        </p:nvSpPr>
        <p:spPr>
          <a:xfrm>
            <a:off x="571501" y="2976696"/>
            <a:ext cx="3714751" cy="437489"/>
          </a:xfrm>
        </p:spPr>
        <p:txBody>
          <a:bodyPr>
            <a:noAutofit/>
          </a:bodyPr>
          <a:lstStyle>
            <a:lvl1pPr>
              <a:buNone/>
              <a:defRPr sz="1800">
                <a:latin typeface="Meiryo UI" panose="020B0604030504040204" pitchFamily="50" charset="-128"/>
                <a:ea typeface="Meiryo UI" panose="020B0604030504040204" pitchFamily="50" charset="-128"/>
              </a:defRPr>
            </a:lvl1pPr>
          </a:lstStyle>
          <a:p>
            <a:pPr lvl="0"/>
            <a:r>
              <a:rPr kumimoji="1" lang="ja-JP" altLang="en-US" dirty="0"/>
              <a:t>日付</a:t>
            </a:r>
          </a:p>
        </p:txBody>
      </p:sp>
      <p:pic>
        <p:nvPicPr>
          <p:cNvPr id="3" name="図 2" descr="森の中の木&#10;&#10;自動的に生成された説明">
            <a:extLst>
              <a:ext uri="{FF2B5EF4-FFF2-40B4-BE49-F238E27FC236}">
                <a16:creationId xmlns:a16="http://schemas.microsoft.com/office/drawing/2014/main" id="{94B50CFC-E543-442F-8569-814AAE64D0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1" y="3646092"/>
            <a:ext cx="5147812" cy="2895644"/>
          </a:xfrm>
          <a:prstGeom prst="rect">
            <a:avLst/>
          </a:prstGeom>
        </p:spPr>
      </p:pic>
      <p:pic>
        <p:nvPicPr>
          <p:cNvPr id="9" name="図 8" descr="図形&#10;&#10;中程度の精度で自動的に生成された説明">
            <a:extLst>
              <a:ext uri="{FF2B5EF4-FFF2-40B4-BE49-F238E27FC236}">
                <a16:creationId xmlns:a16="http://schemas.microsoft.com/office/drawing/2014/main" id="{CC520180-5FCD-4F1C-AA75-6BC77928CCC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984155" y="5801327"/>
            <a:ext cx="4774368" cy="740410"/>
          </a:xfrm>
          <a:prstGeom prst="rect">
            <a:avLst/>
          </a:prstGeom>
        </p:spPr>
      </p:pic>
      <p:pic>
        <p:nvPicPr>
          <p:cNvPr id="11" name="図 10">
            <a:extLst>
              <a:ext uri="{FF2B5EF4-FFF2-40B4-BE49-F238E27FC236}">
                <a16:creationId xmlns:a16="http://schemas.microsoft.com/office/drawing/2014/main" id="{12BF79D9-3AAB-47B6-B8F4-DEAA246C8FA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983556" y="5364266"/>
            <a:ext cx="4774367" cy="349878"/>
          </a:xfrm>
          <a:prstGeom prst="rect">
            <a:avLst/>
          </a:prstGeom>
        </p:spPr>
      </p:pic>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ユーザー設定レイアウ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348A85-1997-4CF2-A010-75EAA6229072}"/>
              </a:ext>
            </a:extLst>
          </p:cNvPr>
          <p:cNvSpPr>
            <a:spLocks noGrp="1"/>
          </p:cNvSpPr>
          <p:nvPr>
            <p:ph type="title" hasCustomPrompt="1"/>
          </p:nvPr>
        </p:nvSpPr>
        <p:spPr/>
        <p:txBody>
          <a:bodyPr/>
          <a:lstStyle/>
          <a:p>
            <a:r>
              <a:rPr kumimoji="1" lang="ja-JP" altLang="en-US" dirty="0"/>
              <a:t>クリックしてタイトルを入力</a:t>
            </a:r>
          </a:p>
        </p:txBody>
      </p:sp>
      <p:sp>
        <p:nvSpPr>
          <p:cNvPr id="4" name="スライド番号プレースホルダー 3">
            <a:extLst>
              <a:ext uri="{FF2B5EF4-FFF2-40B4-BE49-F238E27FC236}">
                <a16:creationId xmlns:a16="http://schemas.microsoft.com/office/drawing/2014/main" id="{117AE779-7919-4822-A2D2-CCCC1DDE6C24}"/>
              </a:ext>
            </a:extLst>
          </p:cNvPr>
          <p:cNvSpPr>
            <a:spLocks noGrp="1"/>
          </p:cNvSpPr>
          <p:nvPr>
            <p:ph type="sldNum" sz="quarter" idx="11"/>
          </p:nvPr>
        </p:nvSpPr>
        <p:spPr/>
        <p:txBody>
          <a:bodyPr/>
          <a:lstStyle/>
          <a:p>
            <a:fld id="{D2D8002D-B5B0-4BAC-B1F6-782DDCCE6D9C}" type="slidenum">
              <a:rPr kumimoji="1" lang="ja-JP" altLang="en-US" smtClean="0"/>
              <a:pPr/>
              <a:t>‹#›</a:t>
            </a:fld>
            <a:endParaRPr kumimoji="1" lang="ja-JP" altLang="en-US"/>
          </a:p>
        </p:txBody>
      </p:sp>
      <p:pic>
        <p:nvPicPr>
          <p:cNvPr id="5" name="図 4" descr="アイコン&#10;&#10;自動的に生成された説明">
            <a:extLst>
              <a:ext uri="{FF2B5EF4-FFF2-40B4-BE49-F238E27FC236}">
                <a16:creationId xmlns:a16="http://schemas.microsoft.com/office/drawing/2014/main" id="{CE75F1A4-D537-4162-91D3-0686128261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42" y="6603943"/>
            <a:ext cx="465535" cy="236924"/>
          </a:xfrm>
          <a:prstGeom prst="rect">
            <a:avLst/>
          </a:prstGeom>
        </p:spPr>
      </p:pic>
      <p:sp>
        <p:nvSpPr>
          <p:cNvPr id="6" name="正方形/長方形 5">
            <a:extLst>
              <a:ext uri="{FF2B5EF4-FFF2-40B4-BE49-F238E27FC236}">
                <a16:creationId xmlns:a16="http://schemas.microsoft.com/office/drawing/2014/main" id="{4ECFA601-8351-4AD6-92D2-2D0DE59181C4}"/>
              </a:ext>
            </a:extLst>
          </p:cNvPr>
          <p:cNvSpPr/>
          <p:nvPr userDrawn="1"/>
        </p:nvSpPr>
        <p:spPr>
          <a:xfrm>
            <a:off x="197840" y="543202"/>
            <a:ext cx="11929829" cy="45719"/>
          </a:xfrm>
          <a:prstGeom prst="rect">
            <a:avLst/>
          </a:prstGeom>
          <a:gradFill flip="none" rotWithShape="1">
            <a:gsLst>
              <a:gs pos="17000">
                <a:schemeClr val="bg1"/>
              </a:gs>
              <a:gs pos="50000">
                <a:srgbClr val="808080">
                  <a:alpha val="16000"/>
                </a:srgbClr>
              </a:gs>
              <a:gs pos="100000">
                <a:srgbClr val="66E60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800" dirty="0">
              <a:latin typeface="Meiryo UI" panose="020B0604030504040204" pitchFamily="50" charset="-128"/>
              <a:ea typeface="Meiryo UI" panose="020B0604030504040204" pitchFamily="50" charset="-128"/>
            </a:endParaRPr>
          </a:p>
        </p:txBody>
      </p:sp>
      <p:sp>
        <p:nvSpPr>
          <p:cNvPr id="7" name="コンテンツ プレースホルダ 2">
            <a:extLst>
              <a:ext uri="{FF2B5EF4-FFF2-40B4-BE49-F238E27FC236}">
                <a16:creationId xmlns:a16="http://schemas.microsoft.com/office/drawing/2014/main" id="{C5FFE509-7B3E-4894-A255-E6E471D9626C}"/>
              </a:ext>
            </a:extLst>
          </p:cNvPr>
          <p:cNvSpPr>
            <a:spLocks noGrp="1"/>
          </p:cNvSpPr>
          <p:nvPr>
            <p:ph idx="1"/>
          </p:nvPr>
        </p:nvSpPr>
        <p:spPr>
          <a:xfrm>
            <a:off x="197839" y="613758"/>
            <a:ext cx="11833133" cy="5851358"/>
          </a:xfrm>
        </p:spPr>
        <p:txBody>
          <a:bodyPr/>
          <a:lstStyle>
            <a:lvl1pPr>
              <a:buFont typeface="Wingdings" pitchFamily="2" charset="2"/>
              <a:buChar char="n"/>
              <a:defRPr sz="2000">
                <a:latin typeface="Meiryo UI" panose="020B0604030504040204" pitchFamily="50" charset="-128"/>
                <a:ea typeface="Meiryo UI" panose="020B0604030504040204" pitchFamily="50" charset="-128"/>
              </a:defRPr>
            </a:lvl1pPr>
            <a:lvl2pPr marL="442913" indent="-285750">
              <a:tabLst/>
              <a:defRPr>
                <a:latin typeface="Meiryo UI" panose="020B0604030504040204" pitchFamily="50" charset="-128"/>
                <a:ea typeface="Meiryo UI" panose="020B0604030504040204" pitchFamily="50" charset="-128"/>
              </a:defRPr>
            </a:lvl2pPr>
            <a:lvl3pPr marL="534988" indent="-228600">
              <a:defRPr>
                <a:latin typeface="Meiryo UI" panose="020B0604030504040204" pitchFamily="50" charset="-128"/>
                <a:ea typeface="Meiryo UI" panose="020B0604030504040204" pitchFamily="50" charset="-128"/>
              </a:defRPr>
            </a:lvl3pPr>
            <a:lvl4pPr marL="720725" indent="-228600">
              <a:buFont typeface="Wingdings" panose="05000000000000000000" pitchFamily="2" charset="2"/>
              <a:buChar char="ü"/>
              <a:defRPr>
                <a:latin typeface="Meiryo UI" panose="020B0604030504040204" pitchFamily="50" charset="-128"/>
                <a:ea typeface="Meiryo UI" panose="020B0604030504040204" pitchFamily="50" charset="-128"/>
              </a:defRPr>
            </a:lvl4pPr>
            <a:lvl5pPr marL="895350" indent="-228600">
              <a:defRPr>
                <a:latin typeface="Meiryo UI" panose="020B0604030504040204" pitchFamily="50" charset="-128"/>
                <a:ea typeface="Meiryo UI" panose="020B0604030504040204" pitchFamily="50" charset="-128"/>
              </a:defRPr>
            </a:lvl5p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8" name="フッター プレースホルダー 2">
            <a:extLst>
              <a:ext uri="{FF2B5EF4-FFF2-40B4-BE49-F238E27FC236}">
                <a16:creationId xmlns:a16="http://schemas.microsoft.com/office/drawing/2014/main" id="{2B9EC72B-C597-458A-8455-F2BEA033B9CF}"/>
              </a:ext>
            </a:extLst>
          </p:cNvPr>
          <p:cNvSpPr txBox="1">
            <a:spLocks/>
          </p:cNvSpPr>
          <p:nvPr userDrawn="1"/>
        </p:nvSpPr>
        <p:spPr>
          <a:xfrm>
            <a:off x="246188" y="6632397"/>
            <a:ext cx="11833133" cy="161700"/>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200" dirty="0"/>
              <a:t>Copyright(C), Prime Brains Inc, All rights reserved.</a:t>
            </a:r>
            <a:endParaRPr lang="ja-JP" altLang="en-US" sz="1200" dirty="0"/>
          </a:p>
        </p:txBody>
      </p:sp>
    </p:spTree>
    <p:extLst>
      <p:ext uri="{BB962C8B-B14F-4D97-AF65-F5344CB8AC3E}">
        <p14:creationId xmlns:p14="http://schemas.microsoft.com/office/powerpoint/2010/main" val="416924479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ユーザー設定レイアウト">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3971BB2F-F13B-48DF-A68E-95504AA771BB}"/>
              </a:ext>
            </a:extLst>
          </p:cNvPr>
          <p:cNvSpPr>
            <a:spLocks noGrp="1"/>
          </p:cNvSpPr>
          <p:nvPr>
            <p:ph type="ftr" sz="quarter" idx="10"/>
          </p:nvPr>
        </p:nvSpPr>
        <p:spPr>
          <a:xfrm>
            <a:off x="179435" y="6637575"/>
            <a:ext cx="11833133" cy="161700"/>
          </a:xfrm>
        </p:spPr>
        <p:txBody>
          <a:bodyPr/>
          <a:lstStyle/>
          <a:p>
            <a:r>
              <a:rPr lang="en-US" altLang="ja-JP" dirty="0"/>
              <a:t>Copyright(C), Prime Brains Inc, All rights reserved.</a:t>
            </a:r>
            <a:endParaRPr lang="ja-JP" altLang="en-US" dirty="0"/>
          </a:p>
        </p:txBody>
      </p:sp>
      <p:sp>
        <p:nvSpPr>
          <p:cNvPr id="4" name="スライド番号プレースホルダー 3">
            <a:extLst>
              <a:ext uri="{FF2B5EF4-FFF2-40B4-BE49-F238E27FC236}">
                <a16:creationId xmlns:a16="http://schemas.microsoft.com/office/drawing/2014/main" id="{5FFA7A78-4D5E-42A1-A1BC-AFF533F5E9E5}"/>
              </a:ext>
            </a:extLst>
          </p:cNvPr>
          <p:cNvSpPr>
            <a:spLocks noGrp="1"/>
          </p:cNvSpPr>
          <p:nvPr>
            <p:ph type="sldNum" sz="quarter" idx="11"/>
          </p:nvPr>
        </p:nvSpPr>
        <p:spPr/>
        <p:txBody>
          <a:bodyPr/>
          <a:lstStyle/>
          <a:p>
            <a:fld id="{D2D8002D-B5B0-4BAC-B1F6-782DDCCE6D9C}" type="slidenum">
              <a:rPr kumimoji="1" lang="ja-JP" altLang="en-US" smtClean="0"/>
              <a:pPr/>
              <a:t>‹#›</a:t>
            </a:fld>
            <a:endParaRPr kumimoji="1" lang="ja-JP" altLang="en-US"/>
          </a:p>
        </p:txBody>
      </p:sp>
      <p:sp>
        <p:nvSpPr>
          <p:cNvPr id="5" name="テキスト プレースホルダ 8">
            <a:extLst>
              <a:ext uri="{FF2B5EF4-FFF2-40B4-BE49-F238E27FC236}">
                <a16:creationId xmlns:a16="http://schemas.microsoft.com/office/drawing/2014/main" id="{EC2485AC-2601-45C7-9DAC-929310165A53}"/>
              </a:ext>
            </a:extLst>
          </p:cNvPr>
          <p:cNvSpPr>
            <a:spLocks noGrp="1"/>
          </p:cNvSpPr>
          <p:nvPr>
            <p:ph type="body" sz="quarter" idx="13" hasCustomPrompt="1"/>
          </p:nvPr>
        </p:nvSpPr>
        <p:spPr>
          <a:xfrm>
            <a:off x="2285975" y="1928802"/>
            <a:ext cx="7334277" cy="1428750"/>
          </a:xfrm>
        </p:spPr>
        <p:txBody>
          <a:bodyPr anchor="ctr" anchorCtr="0">
            <a:normAutofit/>
          </a:bodyPr>
          <a:lstStyle>
            <a:lvl1pPr algn="ctr">
              <a:buNone/>
              <a:defRPr sz="2000">
                <a:latin typeface="Meiryo UI" panose="020B0604030504040204" pitchFamily="50" charset="-128"/>
                <a:ea typeface="Meiryo UI" panose="020B0604030504040204" pitchFamily="50" charset="-128"/>
              </a:defRPr>
            </a:lvl1pPr>
          </a:lstStyle>
          <a:p>
            <a:pPr lvl="0"/>
            <a:r>
              <a:rPr kumimoji="1" lang="ja-JP" altLang="en-US" dirty="0"/>
              <a:t>クリックしてタイトルを入力</a:t>
            </a:r>
          </a:p>
        </p:txBody>
      </p:sp>
      <p:pic>
        <p:nvPicPr>
          <p:cNvPr id="6" name="図 5" descr="アイコン&#10;&#10;自動的に生成された説明">
            <a:extLst>
              <a:ext uri="{FF2B5EF4-FFF2-40B4-BE49-F238E27FC236}">
                <a16:creationId xmlns:a16="http://schemas.microsoft.com/office/drawing/2014/main" id="{64BEE67D-9C40-D808-D2DD-F71B11B3874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7842" y="6603943"/>
            <a:ext cx="465535" cy="236924"/>
          </a:xfrm>
          <a:prstGeom prst="rect">
            <a:avLst/>
          </a:prstGeom>
        </p:spPr>
      </p:pic>
    </p:spTree>
    <p:extLst>
      <p:ext uri="{BB962C8B-B14F-4D97-AF65-F5344CB8AC3E}">
        <p14:creationId xmlns:p14="http://schemas.microsoft.com/office/powerpoint/2010/main" val="346938147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ユーザー設定レイアウト">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D7CF39B-9324-4039-A4C1-4A09E5981E79}"/>
              </a:ext>
            </a:extLst>
          </p:cNvPr>
          <p:cNvSpPr>
            <a:spLocks noGrp="1"/>
          </p:cNvSpPr>
          <p:nvPr>
            <p:ph type="sldNum" sz="quarter" idx="11"/>
          </p:nvPr>
        </p:nvSpPr>
        <p:spPr/>
        <p:txBody>
          <a:bodyPr/>
          <a:lstStyle/>
          <a:p>
            <a:fld id="{D2D8002D-B5B0-4BAC-B1F6-782DDCCE6D9C}" type="slidenum">
              <a:rPr kumimoji="1" lang="ja-JP" altLang="en-US" smtClean="0"/>
              <a:pPr/>
              <a:t>‹#›</a:t>
            </a:fld>
            <a:endParaRPr kumimoji="1" lang="ja-JP" altLang="en-US"/>
          </a:p>
        </p:txBody>
      </p:sp>
      <p:pic>
        <p:nvPicPr>
          <p:cNvPr id="5" name="図 4" descr="ロゴ&#10;&#10;自動的に生成された説明">
            <a:extLst>
              <a:ext uri="{FF2B5EF4-FFF2-40B4-BE49-F238E27FC236}">
                <a16:creationId xmlns:a16="http://schemas.microsoft.com/office/drawing/2014/main" id="{7AD9A5AF-DC61-43D9-A344-F36CDD3B417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10891" y="4654705"/>
            <a:ext cx="3770219" cy="1849542"/>
          </a:xfrm>
          <a:prstGeom prst="rect">
            <a:avLst/>
          </a:prstGeom>
        </p:spPr>
      </p:pic>
      <p:sp>
        <p:nvSpPr>
          <p:cNvPr id="6" name="テキスト プレースホルダ 8">
            <a:extLst>
              <a:ext uri="{FF2B5EF4-FFF2-40B4-BE49-F238E27FC236}">
                <a16:creationId xmlns:a16="http://schemas.microsoft.com/office/drawing/2014/main" id="{FE26FFCB-9A51-4DDB-944D-B6F6A1582688}"/>
              </a:ext>
            </a:extLst>
          </p:cNvPr>
          <p:cNvSpPr>
            <a:spLocks noGrp="1"/>
          </p:cNvSpPr>
          <p:nvPr>
            <p:ph type="body" sz="quarter" idx="13" hasCustomPrompt="1"/>
          </p:nvPr>
        </p:nvSpPr>
        <p:spPr>
          <a:xfrm>
            <a:off x="1263756" y="583083"/>
            <a:ext cx="9664488" cy="3505841"/>
          </a:xfrm>
        </p:spPr>
        <p:txBody>
          <a:bodyPr anchor="ctr" anchorCtr="0">
            <a:normAutofit/>
          </a:bodyPr>
          <a:lstStyle>
            <a:lvl1pPr algn="l">
              <a:buNone/>
              <a:defRPr sz="2000">
                <a:latin typeface="Meiryo UI" panose="020B0604030504040204" pitchFamily="50" charset="-128"/>
                <a:ea typeface="Meiryo UI" panose="020B0604030504040204" pitchFamily="50" charset="-128"/>
              </a:defRPr>
            </a:lvl1pPr>
          </a:lstStyle>
          <a:p>
            <a:pPr lvl="0"/>
            <a:r>
              <a:rPr kumimoji="1" lang="ja-JP" altLang="en-US" dirty="0"/>
              <a:t>クリックしてメッセージを入力</a:t>
            </a:r>
          </a:p>
        </p:txBody>
      </p:sp>
      <p:sp>
        <p:nvSpPr>
          <p:cNvPr id="7" name="フッター プレースホルダー 2">
            <a:extLst>
              <a:ext uri="{FF2B5EF4-FFF2-40B4-BE49-F238E27FC236}">
                <a16:creationId xmlns:a16="http://schemas.microsoft.com/office/drawing/2014/main" id="{ED63D045-B229-4750-B0A9-B1C5150202BB}"/>
              </a:ext>
            </a:extLst>
          </p:cNvPr>
          <p:cNvSpPr txBox="1">
            <a:spLocks/>
          </p:cNvSpPr>
          <p:nvPr userDrawn="1"/>
        </p:nvSpPr>
        <p:spPr>
          <a:xfrm>
            <a:off x="179435" y="6635606"/>
            <a:ext cx="11833133" cy="161700"/>
          </a:xfrm>
          <a:prstGeom prst="rect">
            <a:avLst/>
          </a:prstGeom>
        </p:spPr>
        <p:txBody>
          <a:bodyPr vert="horz" lIns="91440" tIns="45720" rIns="91440" bIns="45720" rtlCol="0" anchor="ctr"/>
          <a:lstStyle>
            <a:defPPr>
              <a:defRPr lang="ja-JP"/>
            </a:defPPr>
            <a:lvl1pPr marL="0" algn="ctr" defTabSz="914400" rtl="0" eaLnBrk="1" latinLnBrk="0" hangingPunct="1">
              <a:defRPr kumimoji="1" sz="1200" kern="1200">
                <a:solidFill>
                  <a:schemeClr val="tx1">
                    <a:tint val="75000"/>
                  </a:schemeClr>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sz="1200"/>
              <a:t>Copyright(C), Prime Brains Inc, All rights reserved.</a:t>
            </a:r>
            <a:endParaRPr lang="ja-JP" altLang="en-US" sz="1200" dirty="0"/>
          </a:p>
        </p:txBody>
      </p:sp>
    </p:spTree>
    <p:extLst>
      <p:ext uri="{BB962C8B-B14F-4D97-AF65-F5344CB8AC3E}">
        <p14:creationId xmlns:p14="http://schemas.microsoft.com/office/powerpoint/2010/main" val="3547436032"/>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197839" y="207035"/>
            <a:ext cx="11833133" cy="327804"/>
          </a:xfrm>
          <a:prstGeom prst="rect">
            <a:avLst/>
          </a:prstGeom>
        </p:spPr>
        <p:txBody>
          <a:bodyPr vert="horz" lIns="91440" tIns="45720" rIns="91440" bIns="45720" rtlCol="0" anchor="ctr">
            <a:noAutofit/>
          </a:bodyPr>
          <a:lstStyle/>
          <a:p>
            <a:r>
              <a:rPr kumimoji="1" lang="ja-JP" altLang="en-US" dirty="0"/>
              <a:t>マスタ タイトルの書式設定</a:t>
            </a:r>
          </a:p>
        </p:txBody>
      </p:sp>
      <p:sp>
        <p:nvSpPr>
          <p:cNvPr id="3" name="テキスト プレースホルダ 2"/>
          <p:cNvSpPr>
            <a:spLocks noGrp="1"/>
          </p:cNvSpPr>
          <p:nvPr>
            <p:ph type="body" idx="1"/>
          </p:nvPr>
        </p:nvSpPr>
        <p:spPr>
          <a:xfrm>
            <a:off x="197840" y="646984"/>
            <a:ext cx="11833133" cy="5981801"/>
          </a:xfrm>
          <a:prstGeom prst="rect">
            <a:avLst/>
          </a:prstGeom>
        </p:spPr>
        <p:txBody>
          <a:bodyPr vert="horz" lIns="91440" tIns="45720" rIns="91440" bIns="45720" rtlCol="0">
            <a:normAutofit/>
          </a:bodyPr>
          <a:lstStyle/>
          <a:p>
            <a:pPr lvl="0"/>
            <a:r>
              <a:rPr kumimoji="1" lang="ja-JP" altLang="en-US" dirty="0"/>
              <a:t>マスタ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5" name="フッター プレースホルダ 4"/>
          <p:cNvSpPr>
            <a:spLocks noGrp="1"/>
          </p:cNvSpPr>
          <p:nvPr>
            <p:ph type="ftr" sz="quarter" idx="3"/>
          </p:nvPr>
        </p:nvSpPr>
        <p:spPr>
          <a:xfrm>
            <a:off x="197839" y="6628783"/>
            <a:ext cx="11833133" cy="161700"/>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ja-JP" dirty="0"/>
              <a:t>Copyright(C), Prime Brains Inc, All rights reserved.</a:t>
            </a:r>
            <a:endParaRPr lang="ja-JP" altLang="en-US" dirty="0"/>
          </a:p>
        </p:txBody>
      </p:sp>
      <p:sp>
        <p:nvSpPr>
          <p:cNvPr id="6" name="スライド番号プレースホルダ 5"/>
          <p:cNvSpPr>
            <a:spLocks noGrp="1"/>
          </p:cNvSpPr>
          <p:nvPr>
            <p:ph type="sldNum" sz="quarter" idx="4"/>
          </p:nvPr>
        </p:nvSpPr>
        <p:spPr>
          <a:xfrm>
            <a:off x="10857783" y="6628783"/>
            <a:ext cx="1173191" cy="161700"/>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63" r:id="rId2"/>
    <p:sldLayoutId id="2147483661" r:id="rId3"/>
    <p:sldLayoutId id="2147483664" r:id="rId4"/>
  </p:sldLayoutIdLst>
  <p:transition/>
  <p:hf hdr="0" dt="0"/>
  <p:txStyles>
    <p:titleStyle>
      <a:lvl1pPr algn="l" defTabSz="914400" rtl="0" eaLnBrk="1" latinLnBrk="0" hangingPunct="1">
        <a:spcBef>
          <a:spcPct val="0"/>
        </a:spcBef>
        <a:buNone/>
        <a:defRPr kumimoji="1" sz="2400" kern="1200">
          <a:solidFill>
            <a:schemeClr val="tx1"/>
          </a:solidFill>
          <a:latin typeface="Meiryo UI" panose="020B0604030504040204" pitchFamily="50" charset="-128"/>
          <a:ea typeface="Meiryo UI" panose="020B0604030504040204" pitchFamily="50" charset="-128"/>
          <a:cs typeface="+mj-cs"/>
        </a:defRPr>
      </a:lvl1pPr>
    </p:titleStyle>
    <p:bodyStyle>
      <a:lvl1pPr marL="342900" indent="-342900" algn="l" defTabSz="914400" rtl="0" eaLnBrk="1" latinLnBrk="0" hangingPunct="1">
        <a:spcBef>
          <a:spcPct val="20000"/>
        </a:spcBef>
        <a:buFont typeface="Wingdings" panose="05000000000000000000" pitchFamily="2" charset="2"/>
        <a:buChar char="n"/>
        <a:defRPr kumimoji="1" sz="2400" kern="1200">
          <a:solidFill>
            <a:schemeClr val="tx1"/>
          </a:solidFill>
          <a:latin typeface="Meiryo UI" panose="020B0604030504040204" pitchFamily="50" charset="-128"/>
          <a:ea typeface="Meiryo UI" panose="020B0604030504040204" pitchFamily="50" charset="-128"/>
          <a:cs typeface="+mn-cs"/>
        </a:defRPr>
      </a:lvl1pPr>
      <a:lvl2pPr marL="442913" indent="-285750" algn="l" defTabSz="914400" rtl="0" eaLnBrk="1" latinLnBrk="0" hangingPunct="1">
        <a:spcBef>
          <a:spcPct val="20000"/>
        </a:spcBef>
        <a:buFont typeface="Arial" pitchFamily="34" charset="0"/>
        <a:buChar char="–"/>
        <a:defRPr kumimoji="1" sz="2000" kern="1200">
          <a:solidFill>
            <a:schemeClr val="tx1"/>
          </a:solidFill>
          <a:latin typeface="Meiryo UI" panose="020B0604030504040204" pitchFamily="50" charset="-128"/>
          <a:ea typeface="Meiryo UI" panose="020B0604030504040204" pitchFamily="50" charset="-128"/>
          <a:cs typeface="+mn-cs"/>
        </a:defRPr>
      </a:lvl2pPr>
      <a:lvl3pPr marL="534988" indent="-228600" algn="l" defTabSz="914400" rtl="0" eaLnBrk="1" latinLnBrk="0" hangingPunct="1">
        <a:spcBef>
          <a:spcPct val="20000"/>
        </a:spcBef>
        <a:buFont typeface="Arial" pitchFamily="34" charset="0"/>
        <a:buChar char="•"/>
        <a:tabLst>
          <a:tab pos="628650" algn="l"/>
        </a:tabLst>
        <a:defRPr kumimoji="1" sz="1800" kern="1200">
          <a:solidFill>
            <a:schemeClr val="tx1"/>
          </a:solidFill>
          <a:latin typeface="Meiryo UI" panose="020B0604030504040204" pitchFamily="50" charset="-128"/>
          <a:ea typeface="Meiryo UI" panose="020B0604030504040204" pitchFamily="50" charset="-128"/>
          <a:cs typeface="+mn-cs"/>
        </a:defRPr>
      </a:lvl3pPr>
      <a:lvl4pPr marL="720725" indent="-228600" algn="l" defTabSz="914400" rtl="0" eaLnBrk="1" latinLnBrk="0" hangingPunct="1">
        <a:spcBef>
          <a:spcPct val="20000"/>
        </a:spcBef>
        <a:buFont typeface="Wingdings" panose="05000000000000000000" pitchFamily="2" charset="2"/>
        <a:buChar char="ü"/>
        <a:defRPr kumimoji="1" sz="1600" kern="1200">
          <a:solidFill>
            <a:schemeClr val="tx1"/>
          </a:solidFill>
          <a:latin typeface="Meiryo UI" panose="020B0604030504040204" pitchFamily="50" charset="-128"/>
          <a:ea typeface="Meiryo UI" panose="020B0604030504040204" pitchFamily="50" charset="-128"/>
          <a:cs typeface="+mn-cs"/>
        </a:defRPr>
      </a:lvl4pPr>
      <a:lvl5pPr marL="895350" indent="-228600" algn="l" defTabSz="914400" rtl="0" eaLnBrk="1" latinLnBrk="0" hangingPunct="1">
        <a:spcBef>
          <a:spcPct val="20000"/>
        </a:spcBef>
        <a:buFont typeface="Arial" pitchFamily="34" charset="0"/>
        <a:buChar char="»"/>
        <a:tabLst>
          <a:tab pos="720725" algn="l"/>
        </a:tabLst>
        <a:defRPr kumimoji="1" sz="1600" kern="1200">
          <a:solidFill>
            <a:schemeClr val="tx1"/>
          </a:solidFill>
          <a:latin typeface="Meiryo UI" panose="020B0604030504040204" pitchFamily="50" charset="-128"/>
          <a:ea typeface="Meiryo UI" panose="020B0604030504040204"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社内LT / 思考実験</a:t>
            </a:r>
          </a:p>
        </p:txBody>
      </p:sp>
      <p:sp>
        <p:nvSpPr>
          <p:cNvPr id="3" name="Text Placeholder 2"/>
          <p:cNvSpPr>
            <a:spLocks noGrp="1"/>
          </p:cNvSpPr>
          <p:nvPr>
            <p:ph type="body" idx="14" sz="quarter"/>
          </p:nvPr>
        </p:nvSpPr>
        <p:spPr/>
        <p:txBody>
          <a:bodyPr/>
          <a:lstStyle/>
          <a:p>
            <a:r>
              <a:t>AI時代の開発プロジェクトにおいて、ボトルネックは何か？</a:t>
            </a:r>
          </a:p>
        </p:txBody>
      </p:sp>
      <p:sp>
        <p:nvSpPr>
          <p:cNvPr id="4" name="Text Placeholder 3"/>
          <p:cNvSpPr>
            <a:spLocks noGrp="1"/>
          </p:cNvSpPr>
          <p:nvPr>
            <p:ph type="body" idx="15" sz="quarter"/>
          </p:nvPr>
        </p:nvSpPr>
        <p:spPr/>
        <p:txBody>
          <a:bodyPr/>
          <a:lstStyle/>
          <a:p>
            <a:r>
              <a:t>2026/07　中尾幸志郎</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AIで、ボトルネックが変わってきている</a:t>
            </a:r>
          </a:p>
        </p:txBody>
      </p:sp>
      <p:sp>
        <p:nvSpPr>
          <p:cNvPr id="3" name="Content Placeholder 2"/>
          <p:cNvSpPr>
            <a:spLocks noGrp="1"/>
          </p:cNvSpPr>
          <p:nvPr>
            <p:ph idx="1"/>
          </p:nvPr>
        </p:nvSpPr>
        <p:spPr/>
        <p:txBody>
          <a:bodyPr/>
          <a:lstStyle/>
          <a:p>
            <a:pPr/>
            <a:r>
              <a:t>AIが当たり前に使われ、私たちの</a:t>
            </a:r>
            <a:r>
              <a:rPr b="1"/>
              <a:t>開発プロジェクトにも入り込んできた</a:t>
            </a:r>
          </a:p>
          <a:p>
            <a:pPr/>
            <a:r>
              <a:t>その結果、</a:t>
            </a:r>
            <a:r>
              <a:rPr b="1"/>
              <a:t>「どこがボトルネック（制約条件）になるか」</a:t>
            </a:r>
            <a:r>
              <a:t>が大きく変わった</a:t>
            </a:r>
          </a:p>
          <a:p>
            <a:pPr/>
            <a:r>
              <a:t>制約理論：システム全体のスループットは</a:t>
            </a:r>
            <a:r>
              <a:rPr b="1"/>
              <a:t>いちばん細い部分</a:t>
            </a:r>
            <a:r>
              <a:t>で決まる</a:t>
            </a:r>
          </a:p>
          <a:p>
            <a:pPr/>
            <a:r>
              <a:t>個々の作業が速くなっても、</a:t>
            </a:r>
            <a:r>
              <a:rPr b="1"/>
              <a:t>ボトルネックが解けなければ全体は速くならない</a:t>
            </a:r>
          </a:p>
          <a:p>
            <a:pPr/>
            <a:r>
              <a:t>逆に、そこが詰まれば</a:t>
            </a:r>
            <a:r>
              <a:rPr b="1"/>
              <a:t>プロジェクト全体が遅れる</a:t>
            </a:r>
            <a:r>
              <a:t>＝リスクの所在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今日話すこと（と、お断り）</a:t>
            </a:r>
          </a:p>
        </p:txBody>
      </p:sp>
      <p:sp>
        <p:nvSpPr>
          <p:cNvPr id="3" name="Content Placeholder 2"/>
          <p:cNvSpPr>
            <a:spLocks noGrp="1"/>
          </p:cNvSpPr>
          <p:nvPr>
            <p:ph idx="1"/>
          </p:nvPr>
        </p:nvSpPr>
        <p:spPr/>
        <p:txBody>
          <a:bodyPr/>
          <a:lstStyle/>
          <a:p>
            <a:pPr/>
            <a:r>
              <a:t>問い①：</a:t>
            </a:r>
            <a:r>
              <a:rPr b="1"/>
              <a:t>AI時代の開発でボトルネックになっているのは何か</a:t>
            </a:r>
          </a:p>
          <a:p>
            <a:pPr/>
            <a:r>
              <a:t>問い②：</a:t>
            </a:r>
            <a:r>
              <a:rPr b="1"/>
              <a:t>それを解消するにはどんな方法があり得るか</a:t>
            </a:r>
          </a:p>
          <a:p>
            <a:pPr/>
            <a:r>
              <a:t>これは「うまくいった」成功談ではない。</a:t>
            </a:r>
            <a:r>
              <a:rPr b="1"/>
              <a:t>思考実験であり、理想論</a:t>
            </a:r>
          </a:p>
          <a:p>
            <a:pPr/>
            <a:r>
              <a:t>誤りや勘違いもあるかもしれない。</a:t>
            </a:r>
            <a:r>
              <a:rPr b="1"/>
              <a:t>たたき台</a:t>
            </a:r>
            <a:r>
              <a:t>として聞いてください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2895" cy="2743200"/>
          </a:xfrm>
          <a:prstGeom prst="rect">
            <a:avLst/>
          </a:prstGeom>
          <a:noFill/>
        </p:spPr>
        <p:txBody>
          <a:bodyPr wrap="square" anchor="ctr" lIns="0" rIns="0" tIns="0" bIns="0">
            <a:spAutoFit/>
          </a:bodyPr>
          <a:lstStyle/>
          <a:p>
            <a:pPr algn="ctr">
              <a:lnSpc>
                <a:spcPct val="120000"/>
              </a:lnSpc>
              <a:spcBef>
                <a:spcPts val="600"/>
              </a:spcBef>
              <a:spcAft>
                <a:spcPts val="800"/>
              </a:spcAft>
            </a:pPr>
            <a:r>
              <a:rPr sz="2000" b="1">
                <a:solidFill>
                  <a:srgbClr val="5A9E12"/>
                </a:solidFill>
                <a:latin typeface="Meiryo UI"/>
                <a:ea typeface="Meiryo UI"/>
                <a:cs typeface="Meiryo UI"/>
              </a:rPr>
              <a:t>結論</a:t>
            </a:r>
          </a:p>
          <a:p>
            <a:pPr algn="ctr">
              <a:lnSpc>
                <a:spcPct val="120000"/>
              </a:lnSpc>
              <a:spcBef>
                <a:spcPts val="600"/>
              </a:spcBef>
              <a:spcAft>
                <a:spcPts val="800"/>
              </a:spcAft>
            </a:pPr>
            <a:r>
              <a:rPr sz="2400" b="0">
                <a:solidFill>
                  <a:srgbClr val="262626"/>
                </a:solidFill>
                <a:latin typeface="Meiryo UI"/>
                <a:ea typeface="Meiryo UI"/>
                <a:cs typeface="Meiryo UI"/>
              </a:rPr>
              <a:t>AI時代の開発のボトルネックは</a:t>
            </a:r>
          </a:p>
          <a:p>
            <a:pPr algn="ctr">
              <a:lnSpc>
                <a:spcPct val="120000"/>
              </a:lnSpc>
              <a:spcBef>
                <a:spcPts val="600"/>
              </a:spcBef>
              <a:spcAft>
                <a:spcPts val="800"/>
              </a:spcAft>
            </a:pPr>
            <a:r>
              <a:rPr sz="4800" b="1">
                <a:solidFill>
                  <a:srgbClr val="1F497D"/>
                </a:solidFill>
                <a:latin typeface="Meiryo UI"/>
                <a:ea typeface="Meiryo UI"/>
                <a:cs typeface="Meiryo UI"/>
              </a:rPr>
              <a:t>「人間の判断」</a:t>
            </a:r>
          </a:p>
          <a:p>
            <a:pPr algn="ctr">
              <a:lnSpc>
                <a:spcPct val="120000"/>
              </a:lnSpc>
              <a:spcBef>
                <a:spcPts val="600"/>
              </a:spcBef>
              <a:spcAft>
                <a:spcPts val="800"/>
              </a:spcAft>
            </a:pPr>
            <a:r>
              <a:rPr sz="2000" b="0">
                <a:solidFill>
                  <a:srgbClr val="808080"/>
                </a:solidFill>
                <a:latin typeface="Meiryo UI"/>
                <a:ea typeface="Meiryo UI"/>
                <a:cs typeface="Meiryo UI"/>
              </a:rPr>
              <a:t>― 残るのは 要件定義 と レビュー の2か所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なぜ人間が？① AIの「コストと並列性」</a:t>
            </a:r>
          </a:p>
        </p:txBody>
      </p:sp>
      <p:sp>
        <p:nvSpPr>
          <p:cNvPr id="3" name="Content Placeholder 2"/>
          <p:cNvSpPr>
            <a:spLocks noGrp="1"/>
          </p:cNvSpPr>
          <p:nvPr>
            <p:ph idx="1"/>
          </p:nvPr>
        </p:nvSpPr>
        <p:spPr/>
        <p:txBody>
          <a:bodyPr/>
          <a:lstStyle/>
          <a:p>
            <a:pPr/>
            <a:r>
              <a:t>理由はAIの</a:t>
            </a:r>
            <a:r>
              <a:rPr b="1"/>
              <a:t>コストと並列性</a:t>
            </a:r>
            <a:r>
              <a:t>にある</a:t>
            </a:r>
          </a:p>
          <a:p>
            <a:pPr/>
            <a:r>
              <a:t>推論コストは下がり、多くの場面で</a:t>
            </a:r>
            <a:r>
              <a:rPr b="1"/>
              <a:t>人件費よりエージェントの方が安い</a:t>
            </a:r>
          </a:p>
          <a:p>
            <a:pPr/>
            <a:r>
              <a:t>何より、お金を惜しまなければ</a:t>
            </a:r>
            <a:r>
              <a:rPr b="1"/>
              <a:t>いくらでも並列に増やせる</a:t>
            </a:r>
          </a:p>
          <a:p>
            <a:pPr/>
            <a:r>
              <a:t>→ AIが担う設計・実装は、</a:t>
            </a:r>
            <a:r>
              <a:rPr b="1"/>
              <a:t>どんどん並列化して高速に量産</a:t>
            </a:r>
            <a:r>
              <a:t>できる</a:t>
            </a:r>
          </a:p>
          <a:p>
            <a:pPr lvl="1"/>
            <a:r>
              <a:t>肝は「安い」ことより、むしろ</a:t>
            </a:r>
            <a:r>
              <a:rPr b="1"/>
              <a:t>「並列に増やせる」</a:t>
            </a:r>
            <a:r>
              <a:t>こと</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なぜ人間が？② レビュー（最終判断）は人間に残る</a:t>
            </a:r>
          </a:p>
        </p:txBody>
      </p:sp>
      <p:sp>
        <p:nvSpPr>
          <p:cNvPr id="3" name="TextBox 2"/>
          <p:cNvSpPr txBox="1"/>
          <p:nvPr/>
        </p:nvSpPr>
        <p:spPr>
          <a:xfrm>
            <a:off x="548640" y="1325880"/>
            <a:ext cx="11094415" cy="1371600"/>
          </a:xfrm>
          <a:prstGeom prst="rect">
            <a:avLst/>
          </a:prstGeom>
          <a:noFill/>
        </p:spPr>
        <p:txBody>
          <a:bodyPr wrap="square" anchor="t" lIns="0" rIns="0" tIns="0" bIns="0">
            <a:spAutoFit/>
          </a:bodyPr>
          <a:lstStyle/>
          <a:p>
            <a:pPr algn="l">
              <a:lnSpc>
                <a:spcPct val="115000"/>
              </a:lnSpc>
              <a:spcBef>
                <a:spcPts val="0"/>
              </a:spcBef>
              <a:spcAft>
                <a:spcPts val="600"/>
              </a:spcAft>
            </a:pPr>
            <a:r>
              <a:rPr sz="1189" b="1">
                <a:solidFill>
                  <a:srgbClr val="66E600"/>
                </a:solidFill>
                <a:latin typeface="Meiryo UI"/>
                <a:ea typeface="Meiryo UI"/>
                <a:cs typeface="Meiryo UI"/>
              </a:rPr>
              <a:t>■  </a:t>
            </a:r>
            <a:r>
              <a:rPr sz="1700" b="0">
                <a:solidFill>
                  <a:srgbClr val="262626"/>
                </a:solidFill>
                <a:latin typeface="Meiryo UI"/>
                <a:ea typeface="Meiryo UI"/>
                <a:cs typeface="Meiryo UI"/>
              </a:rPr>
              <a:t>AIに一次レビューはさせられる。でも</a:t>
            </a:r>
            <a:r>
              <a:rPr sz="1700" b="1">
                <a:solidFill>
                  <a:srgbClr val="1F497D"/>
                </a:solidFill>
                <a:latin typeface="Meiryo UI"/>
                <a:ea typeface="Meiryo UI"/>
                <a:cs typeface="Meiryo UI"/>
              </a:rPr>
              <a:t>「これでよし」と承認する責任は人間</a:t>
            </a:r>
            <a:r>
              <a:rPr sz="1700" b="0">
                <a:solidFill>
                  <a:srgbClr val="262626"/>
                </a:solidFill>
                <a:latin typeface="Meiryo UI"/>
                <a:ea typeface="Meiryo UI"/>
                <a:cs typeface="Meiryo UI"/>
              </a:rPr>
              <a:t>に残る</a:t>
            </a:r>
          </a:p>
          <a:p>
            <a:pPr algn="l">
              <a:lnSpc>
                <a:spcPct val="115000"/>
              </a:lnSpc>
              <a:spcBef>
                <a:spcPts val="200"/>
              </a:spcBef>
              <a:spcAft>
                <a:spcPts val="0"/>
              </a:spcAft>
            </a:pPr>
            <a:r>
              <a:rPr sz="1189" b="1">
                <a:solidFill>
                  <a:srgbClr val="66E600"/>
                </a:solidFill>
                <a:latin typeface="Meiryo UI"/>
                <a:ea typeface="Meiryo UI"/>
                <a:cs typeface="Meiryo UI"/>
              </a:rPr>
              <a:t>■  </a:t>
            </a:r>
            <a:r>
              <a:rPr sz="1700" b="0">
                <a:solidFill>
                  <a:srgbClr val="262626"/>
                </a:solidFill>
                <a:latin typeface="Meiryo UI"/>
                <a:ea typeface="Meiryo UI"/>
                <a:cs typeface="Meiryo UI"/>
              </a:rPr>
              <a:t>速い生産者 × </a:t>
            </a:r>
            <a:r>
              <a:rPr sz="1700" b="1">
                <a:solidFill>
                  <a:srgbClr val="1F497D"/>
                </a:solidFill>
                <a:latin typeface="Meiryo UI"/>
                <a:ea typeface="Meiryo UI"/>
                <a:cs typeface="Meiryo UI"/>
              </a:rPr>
              <a:t>単一の遅い窓口</a:t>
            </a:r>
            <a:r>
              <a:rPr sz="1700" b="0">
                <a:solidFill>
                  <a:srgbClr val="262626"/>
                </a:solidFill>
                <a:latin typeface="Meiryo UI"/>
                <a:ea typeface="Meiryo UI"/>
                <a:cs typeface="Meiryo UI"/>
              </a:rPr>
              <a:t> → </a:t>
            </a:r>
            <a:r>
              <a:rPr sz="1700" b="1">
                <a:solidFill>
                  <a:srgbClr val="1F497D"/>
                </a:solidFill>
                <a:latin typeface="Meiryo UI"/>
                <a:ea typeface="Meiryo UI"/>
                <a:cs typeface="Meiryo UI"/>
              </a:rPr>
              <a:t>待ち時間が急激に跳ね上がる</a:t>
            </a:r>
            <a:r>
              <a:rPr sz="1700" b="0">
                <a:solidFill>
                  <a:srgbClr val="262626"/>
                </a:solidFill>
                <a:latin typeface="Meiryo UI"/>
                <a:ea typeface="Meiryo UI"/>
                <a:cs typeface="Meiryo UI"/>
              </a:rPr>
              <a:t>（待ち行列）</a:t>
            </a:r>
          </a:p>
        </p:txBody>
      </p:sp>
      <p:sp>
        <p:nvSpPr>
          <p:cNvPr id="4" name="Rounded Rectangle 3"/>
          <p:cNvSpPr/>
          <p:nvPr/>
        </p:nvSpPr>
        <p:spPr>
          <a:xfrm>
            <a:off x="548640" y="3383280"/>
            <a:ext cx="3017520" cy="1371600"/>
          </a:xfrm>
          <a:prstGeom prst="roundRect">
            <a:avLst>
              <a:gd name="adj" fmla="val 8000"/>
            </a:avLst>
          </a:prstGeom>
          <a:solidFill>
            <a:srgbClr val="E3EAF5"/>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383280"/>
            <a:ext cx="2743200" cy="1371600"/>
          </a:xfrm>
          <a:prstGeom prst="rect">
            <a:avLst/>
          </a:prstGeom>
          <a:noFill/>
        </p:spPr>
        <p:txBody>
          <a:bodyPr wrap="square" anchor="ctr" lIns="0" rIns="0" tIns="0" bIns="0">
            <a:spAutoFit/>
          </a:bodyPr>
          <a:lstStyle/>
          <a:p>
            <a:pPr algn="ctr">
              <a:lnSpc>
                <a:spcPct val="110000"/>
              </a:lnSpc>
              <a:spcBef>
                <a:spcPts val="0"/>
              </a:spcBef>
              <a:spcAft>
                <a:spcPts val="200"/>
              </a:spcAft>
            </a:pPr>
            <a:r>
              <a:rPr sz="1600" b="1">
                <a:solidFill>
                  <a:srgbClr val="262626"/>
                </a:solidFill>
                <a:latin typeface="Meiryo UI"/>
                <a:ea typeface="Meiryo UI"/>
                <a:cs typeface="Meiryo UI"/>
              </a:rPr>
              <a:t>AI が成果物を</a:t>
            </a:r>
          </a:p>
          <a:p>
            <a:pPr algn="ctr">
              <a:lnSpc>
                <a:spcPct val="110000"/>
              </a:lnSpc>
              <a:spcBef>
                <a:spcPts val="0"/>
              </a:spcBef>
              <a:spcAft>
                <a:spcPts val="200"/>
              </a:spcAft>
            </a:pPr>
            <a:r>
              <a:rPr sz="1600" b="1">
                <a:solidFill>
                  <a:srgbClr val="262626"/>
                </a:solidFill>
                <a:latin typeface="Meiryo UI"/>
                <a:ea typeface="Meiryo UI"/>
                <a:cs typeface="Meiryo UI"/>
              </a:rPr>
              <a:t>並列・高速に量産</a:t>
            </a:r>
          </a:p>
        </p:txBody>
      </p:sp>
      <p:sp>
        <p:nvSpPr>
          <p:cNvPr id="6" name="Right Arrow 5"/>
          <p:cNvSpPr/>
          <p:nvPr/>
        </p:nvSpPr>
        <p:spPr>
          <a:xfrm>
            <a:off x="3657600" y="3904488"/>
            <a:ext cx="320040" cy="329184"/>
          </a:xfrm>
          <a:prstGeom prst="rightArrow">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0" y="3675888"/>
            <a:ext cx="274320" cy="786384"/>
          </a:xfrm>
          <a:prstGeom prst="rect">
            <a:avLst/>
          </a:prstGeom>
          <a:solidFill>
            <a:srgbClr val="F2F4F6"/>
          </a:solidFill>
          <a:ln w="12700">
            <a:solidFill>
              <a:srgbClr val="D7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98848" y="3675888"/>
            <a:ext cx="274320" cy="786384"/>
          </a:xfrm>
          <a:prstGeom prst="rect">
            <a:avLst/>
          </a:prstGeom>
          <a:solidFill>
            <a:srgbClr val="F2F4F6"/>
          </a:solidFill>
          <a:ln w="12700">
            <a:solidFill>
              <a:srgbClr val="D7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882896" y="3675888"/>
            <a:ext cx="274320" cy="786384"/>
          </a:xfrm>
          <a:prstGeom prst="rect">
            <a:avLst/>
          </a:prstGeom>
          <a:solidFill>
            <a:srgbClr val="F2F4F6"/>
          </a:solidFill>
          <a:ln w="12700">
            <a:solidFill>
              <a:srgbClr val="D7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266944" y="3675888"/>
            <a:ext cx="274320" cy="786384"/>
          </a:xfrm>
          <a:prstGeom prst="rect">
            <a:avLst/>
          </a:prstGeom>
          <a:solidFill>
            <a:srgbClr val="F2F4F6"/>
          </a:solidFill>
          <a:ln w="12700">
            <a:solidFill>
              <a:srgbClr val="D7DD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4736592"/>
            <a:ext cx="1536192" cy="320040"/>
          </a:xfrm>
          <a:prstGeom prst="rect">
            <a:avLst/>
          </a:prstGeom>
          <a:noFill/>
        </p:spPr>
        <p:txBody>
          <a:bodyPr wrap="square" anchor="t" lIns="0" rIns="0" tIns="0" bIns="0">
            <a:spAutoFit/>
          </a:bodyPr>
          <a:lstStyle/>
          <a:p>
            <a:pPr algn="ctr">
              <a:lnSpc>
                <a:spcPct val="115000"/>
              </a:lnSpc>
              <a:spcBef>
                <a:spcPts val="0"/>
              </a:spcBef>
              <a:spcAft>
                <a:spcPts val="0"/>
              </a:spcAft>
            </a:pPr>
            <a:r>
              <a:rPr sz="1300" b="0">
                <a:solidFill>
                  <a:srgbClr val="808080"/>
                </a:solidFill>
                <a:latin typeface="Meiryo UI"/>
                <a:ea typeface="Meiryo UI"/>
                <a:cs typeface="Meiryo UI"/>
              </a:rPr>
              <a:t>待ち行列</a:t>
            </a:r>
          </a:p>
        </p:txBody>
      </p:sp>
      <p:sp>
        <p:nvSpPr>
          <p:cNvPr id="12" name="Right Arrow 11"/>
          <p:cNvSpPr/>
          <p:nvPr/>
        </p:nvSpPr>
        <p:spPr>
          <a:xfrm>
            <a:off x="5760720" y="3904488"/>
            <a:ext cx="502920" cy="329184"/>
          </a:xfrm>
          <a:prstGeom prst="rightArrow">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3383280"/>
            <a:ext cx="2834640" cy="1371600"/>
          </a:xfrm>
          <a:prstGeom prst="roundRect">
            <a:avLst>
              <a:gd name="adj" fmla="val 8000"/>
            </a:avLst>
          </a:prstGeom>
          <a:solidFill>
            <a:srgbClr val="F7EAE9"/>
          </a:solidFill>
          <a:ln w="15875">
            <a:solidFill>
              <a:srgbClr val="C0504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3383280"/>
            <a:ext cx="2560320" cy="1371600"/>
          </a:xfrm>
          <a:prstGeom prst="rect">
            <a:avLst/>
          </a:prstGeom>
          <a:noFill/>
        </p:spPr>
        <p:txBody>
          <a:bodyPr wrap="square" anchor="ctr" lIns="0" rIns="0" tIns="0" bIns="0">
            <a:spAutoFit/>
          </a:bodyPr>
          <a:lstStyle/>
          <a:p>
            <a:pPr algn="ctr">
              <a:lnSpc>
                <a:spcPct val="110000"/>
              </a:lnSpc>
              <a:spcBef>
                <a:spcPts val="0"/>
              </a:spcBef>
              <a:spcAft>
                <a:spcPts val="200"/>
              </a:spcAft>
            </a:pPr>
            <a:r>
              <a:rPr sz="1600" b="1">
                <a:solidFill>
                  <a:srgbClr val="262626"/>
                </a:solidFill>
                <a:latin typeface="Meiryo UI"/>
                <a:ea typeface="Meiryo UI"/>
                <a:cs typeface="Meiryo UI"/>
              </a:rPr>
              <a:t>人間のレビュー</a:t>
            </a:r>
          </a:p>
          <a:p>
            <a:pPr algn="ctr">
              <a:lnSpc>
                <a:spcPct val="110000"/>
              </a:lnSpc>
              <a:spcBef>
                <a:spcPts val="0"/>
              </a:spcBef>
              <a:spcAft>
                <a:spcPts val="200"/>
              </a:spcAft>
            </a:pPr>
            <a:r>
              <a:rPr sz="1600" b="1">
                <a:solidFill>
                  <a:srgbClr val="262626"/>
                </a:solidFill>
                <a:latin typeface="Meiryo UI"/>
                <a:ea typeface="Meiryo UI"/>
                <a:cs typeface="Meiryo UI"/>
              </a:rPr>
              <a:t>（単一の窓口）</a:t>
            </a:r>
          </a:p>
        </p:txBody>
      </p:sp>
      <p:sp>
        <p:nvSpPr>
          <p:cNvPr id="15" name="TextBox 14"/>
          <p:cNvSpPr txBox="1"/>
          <p:nvPr/>
        </p:nvSpPr>
        <p:spPr>
          <a:xfrm>
            <a:off x="9418320" y="3685032"/>
            <a:ext cx="2011680" cy="868680"/>
          </a:xfrm>
          <a:prstGeom prst="rect">
            <a:avLst/>
          </a:prstGeom>
          <a:noFill/>
        </p:spPr>
        <p:txBody>
          <a:bodyPr wrap="square" anchor="ctr" lIns="0" rIns="0" tIns="0" bIns="0">
            <a:spAutoFit/>
          </a:bodyPr>
          <a:lstStyle/>
          <a:p>
            <a:pPr algn="ctr">
              <a:lnSpc>
                <a:spcPct val="115000"/>
              </a:lnSpc>
              <a:spcBef>
                <a:spcPts val="0"/>
              </a:spcBef>
              <a:spcAft>
                <a:spcPts val="0"/>
              </a:spcAft>
            </a:pPr>
            <a:r>
              <a:rPr sz="1400" b="0">
                <a:solidFill>
                  <a:srgbClr val="808080"/>
                </a:solidFill>
                <a:latin typeface="Meiryo UI"/>
                <a:ea typeface="Meiryo UI"/>
                <a:cs typeface="Meiryo UI"/>
              </a:rPr>
              <a:t>ここが</a:t>
            </a:r>
          </a:p>
          <a:p>
            <a:pPr algn="ctr">
              <a:lnSpc>
                <a:spcPct val="115000"/>
              </a:lnSpc>
              <a:spcBef>
                <a:spcPts val="0"/>
              </a:spcBef>
              <a:spcAft>
                <a:spcPts val="0"/>
              </a:spcAft>
            </a:pPr>
            <a:r>
              <a:rPr sz="1900" b="1">
                <a:solidFill>
                  <a:srgbClr val="C0504D"/>
                </a:solidFill>
                <a:latin typeface="Meiryo UI"/>
                <a:ea typeface="Meiryo UI"/>
                <a:cs typeface="Meiryo UI"/>
              </a:rPr>
              <a:t>ボトルネック</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人間が担うのは、大きく2つ</a:t>
            </a:r>
          </a:p>
        </p:txBody>
      </p:sp>
      <p:sp>
        <p:nvSpPr>
          <p:cNvPr id="3" name="Content Placeholder 2"/>
          <p:cNvSpPr>
            <a:spLocks noGrp="1"/>
          </p:cNvSpPr>
          <p:nvPr>
            <p:ph idx="1"/>
          </p:nvPr>
        </p:nvSpPr>
        <p:spPr/>
        <p:txBody>
          <a:bodyPr/>
          <a:lstStyle/>
          <a:p>
            <a:pPr/>
            <a:r>
              <a:t>① </a:t>
            </a:r>
            <a:r>
              <a:rPr b="1"/>
              <a:t>要件定義</a:t>
            </a:r>
            <a:r>
              <a:t> ― 何を作るか（意図・要件）を決める。</a:t>
            </a:r>
            <a:r>
              <a:rPr b="1"/>
              <a:t>人間が起点となる発案</a:t>
            </a:r>
          </a:p>
          <a:p>
            <a:pPr/>
            <a:r>
              <a:t>② </a:t>
            </a:r>
            <a:r>
              <a:rPr b="1"/>
              <a:t>レビュー</a:t>
            </a:r>
            <a:r>
              <a:t> ― 生成物（設計・実装・テスト・設計判断）が、</a:t>
            </a:r>
            <a:r>
              <a:rPr b="1"/>
              <a:t>意図に照らして正しいかを判定</a:t>
            </a:r>
          </a:p>
          <a:p>
            <a:pPr/>
            <a:r>
              <a:t>今日は </a:t>
            </a:r>
            <a:r>
              <a:rPr b="1"/>
              <a:t>要件定義はいったん脇に置き、レビューに焦点</a:t>
            </a:r>
            <a:r>
              <a:t>を当てる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レビューのボトルネックを解消する3つの方法</a:t>
            </a:r>
          </a:p>
        </p:txBody>
      </p:sp>
      <p:sp>
        <p:nvSpPr>
          <p:cNvPr id="3" name="Rounded Rectangle 2"/>
          <p:cNvSpPr/>
          <p:nvPr/>
        </p:nvSpPr>
        <p:spPr>
          <a:xfrm>
            <a:off x="548640" y="1417320"/>
            <a:ext cx="3454298" cy="420624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417320"/>
            <a:ext cx="3454298" cy="128016"/>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74519"/>
            <a:ext cx="2905658" cy="914400"/>
          </a:xfrm>
          <a:prstGeom prst="rect">
            <a:avLst/>
          </a:prstGeom>
          <a:noFill/>
        </p:spPr>
        <p:txBody>
          <a:bodyPr wrap="square" anchor="t" lIns="0" rIns="0" tIns="0" bIns="0">
            <a:spAutoFit/>
          </a:bodyPr>
          <a:lstStyle/>
          <a:p>
            <a:pPr algn="l">
              <a:lnSpc>
                <a:spcPct val="115000"/>
              </a:lnSpc>
              <a:spcBef>
                <a:spcPts val="0"/>
              </a:spcBef>
              <a:spcAft>
                <a:spcPts val="0"/>
              </a:spcAft>
            </a:pPr>
            <a:r>
              <a:rPr sz="4200" b="1">
                <a:solidFill>
                  <a:srgbClr val="1F497D"/>
                </a:solidFill>
                <a:latin typeface="Meiryo UI"/>
                <a:ea typeface="Meiryo UI"/>
                <a:cs typeface="Meiryo UI"/>
              </a:rPr>
              <a:t>1</a:t>
            </a:r>
          </a:p>
        </p:txBody>
      </p:sp>
      <p:sp>
        <p:nvSpPr>
          <p:cNvPr id="6" name="TextBox 5"/>
          <p:cNvSpPr txBox="1"/>
          <p:nvPr/>
        </p:nvSpPr>
        <p:spPr>
          <a:xfrm>
            <a:off x="822959" y="2834640"/>
            <a:ext cx="2905658" cy="914400"/>
          </a:xfrm>
          <a:prstGeom prst="rect">
            <a:avLst/>
          </a:prstGeom>
          <a:noFill/>
        </p:spPr>
        <p:txBody>
          <a:bodyPr wrap="square" anchor="t" lIns="0" rIns="0" tIns="0" bIns="0">
            <a:spAutoFit/>
          </a:bodyPr>
          <a:lstStyle/>
          <a:p>
            <a:pPr algn="l">
              <a:lnSpc>
                <a:spcPct val="112000"/>
              </a:lnSpc>
              <a:spcBef>
                <a:spcPts val="0"/>
              </a:spcBef>
              <a:spcAft>
                <a:spcPts val="200"/>
              </a:spcAft>
            </a:pPr>
            <a:r>
              <a:rPr sz="1900" b="1">
                <a:solidFill>
                  <a:srgbClr val="262626"/>
                </a:solidFill>
                <a:latin typeface="Meiryo UI"/>
                <a:ea typeface="Meiryo UI"/>
                <a:cs typeface="Meiryo UI"/>
              </a:rPr>
              <a:t>レビュワーの数を増やす</a:t>
            </a:r>
          </a:p>
        </p:txBody>
      </p:sp>
      <p:sp>
        <p:nvSpPr>
          <p:cNvPr id="7" name="TextBox 6"/>
          <p:cNvSpPr txBox="1"/>
          <p:nvPr/>
        </p:nvSpPr>
        <p:spPr>
          <a:xfrm>
            <a:off x="822959" y="3886200"/>
            <a:ext cx="2905658" cy="1554479"/>
          </a:xfrm>
          <a:prstGeom prst="rect">
            <a:avLst/>
          </a:prstGeom>
          <a:noFill/>
        </p:spPr>
        <p:txBody>
          <a:bodyPr wrap="square" anchor="t" lIns="0" rIns="0" tIns="0" bIns="0">
            <a:spAutoFit/>
          </a:bodyPr>
          <a:lstStyle/>
          <a:p>
            <a:pPr algn="l">
              <a:lnSpc>
                <a:spcPct val="122000"/>
              </a:lnSpc>
              <a:spcBef>
                <a:spcPts val="0"/>
              </a:spcBef>
              <a:spcAft>
                <a:spcPts val="0"/>
              </a:spcAft>
            </a:pPr>
            <a:r>
              <a:rPr sz="1450" b="0">
                <a:solidFill>
                  <a:srgbClr val="444C5E"/>
                </a:solidFill>
                <a:latin typeface="Meiryo UI"/>
                <a:ea typeface="Meiryo UI"/>
                <a:cs typeface="Meiryo UI"/>
              </a:rPr>
              <a:t>窓口を増やせば速く捌ける。いちばん分かりやすい対応。</a:t>
            </a:r>
          </a:p>
        </p:txBody>
      </p:sp>
      <p:sp>
        <p:nvSpPr>
          <p:cNvPr id="8" name="Rounded Rectangle 7"/>
          <p:cNvSpPr/>
          <p:nvPr/>
        </p:nvSpPr>
        <p:spPr>
          <a:xfrm>
            <a:off x="4368698" y="1417320"/>
            <a:ext cx="3454298" cy="420624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8698" y="1417320"/>
            <a:ext cx="3454298" cy="128016"/>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3018" y="1874519"/>
            <a:ext cx="2905658" cy="914400"/>
          </a:xfrm>
          <a:prstGeom prst="rect">
            <a:avLst/>
          </a:prstGeom>
          <a:noFill/>
        </p:spPr>
        <p:txBody>
          <a:bodyPr wrap="square" anchor="t" lIns="0" rIns="0" tIns="0" bIns="0">
            <a:spAutoFit/>
          </a:bodyPr>
          <a:lstStyle/>
          <a:p>
            <a:pPr algn="l">
              <a:lnSpc>
                <a:spcPct val="115000"/>
              </a:lnSpc>
              <a:spcBef>
                <a:spcPts val="0"/>
              </a:spcBef>
              <a:spcAft>
                <a:spcPts val="0"/>
              </a:spcAft>
            </a:pPr>
            <a:r>
              <a:rPr sz="4200" b="1">
                <a:solidFill>
                  <a:srgbClr val="5A9E12"/>
                </a:solidFill>
                <a:latin typeface="Meiryo UI"/>
                <a:ea typeface="Meiryo UI"/>
                <a:cs typeface="Meiryo UI"/>
              </a:rPr>
              <a:t>2</a:t>
            </a:r>
          </a:p>
        </p:txBody>
      </p:sp>
      <p:sp>
        <p:nvSpPr>
          <p:cNvPr id="11" name="TextBox 10"/>
          <p:cNvSpPr txBox="1"/>
          <p:nvPr/>
        </p:nvSpPr>
        <p:spPr>
          <a:xfrm>
            <a:off x="4643018" y="2834640"/>
            <a:ext cx="2905658" cy="914400"/>
          </a:xfrm>
          <a:prstGeom prst="rect">
            <a:avLst/>
          </a:prstGeom>
          <a:noFill/>
        </p:spPr>
        <p:txBody>
          <a:bodyPr wrap="square" anchor="t" lIns="0" rIns="0" tIns="0" bIns="0">
            <a:spAutoFit/>
          </a:bodyPr>
          <a:lstStyle/>
          <a:p>
            <a:pPr algn="l">
              <a:lnSpc>
                <a:spcPct val="112000"/>
              </a:lnSpc>
              <a:spcBef>
                <a:spcPts val="0"/>
              </a:spcBef>
              <a:spcAft>
                <a:spcPts val="200"/>
              </a:spcAft>
            </a:pPr>
            <a:r>
              <a:rPr sz="1900" b="1">
                <a:solidFill>
                  <a:srgbClr val="262626"/>
                </a:solidFill>
                <a:latin typeface="Meiryo UI"/>
                <a:ea typeface="Meiryo UI"/>
                <a:cs typeface="Meiryo UI"/>
              </a:rPr>
              <a:t>一人あたりを速く捌く</a:t>
            </a:r>
          </a:p>
        </p:txBody>
      </p:sp>
      <p:sp>
        <p:nvSpPr>
          <p:cNvPr id="12" name="TextBox 11"/>
          <p:cNvSpPr txBox="1"/>
          <p:nvPr/>
        </p:nvSpPr>
        <p:spPr>
          <a:xfrm>
            <a:off x="4643018" y="3886200"/>
            <a:ext cx="2905658" cy="1554479"/>
          </a:xfrm>
          <a:prstGeom prst="rect">
            <a:avLst/>
          </a:prstGeom>
          <a:noFill/>
        </p:spPr>
        <p:txBody>
          <a:bodyPr wrap="square" anchor="t" lIns="0" rIns="0" tIns="0" bIns="0">
            <a:spAutoFit/>
          </a:bodyPr>
          <a:lstStyle/>
          <a:p>
            <a:pPr algn="l">
              <a:lnSpc>
                <a:spcPct val="122000"/>
              </a:lnSpc>
              <a:spcBef>
                <a:spcPts val="0"/>
              </a:spcBef>
              <a:spcAft>
                <a:spcPts val="0"/>
              </a:spcAft>
            </a:pPr>
            <a:r>
              <a:rPr sz="1450" b="0">
                <a:solidFill>
                  <a:srgbClr val="444C5E"/>
                </a:solidFill>
                <a:latin typeface="Meiryo UI"/>
                <a:ea typeface="Meiryo UI"/>
                <a:cs typeface="Meiryo UI"/>
              </a:rPr>
              <a:t>レビュー能力そのものを上げる／読みやすいダッシュボード等で負荷を下げる。</a:t>
            </a:r>
          </a:p>
        </p:txBody>
      </p:sp>
      <p:sp>
        <p:nvSpPr>
          <p:cNvPr id="13" name="Rounded Rectangle 12"/>
          <p:cNvSpPr/>
          <p:nvPr/>
        </p:nvSpPr>
        <p:spPr>
          <a:xfrm>
            <a:off x="8188756" y="1417320"/>
            <a:ext cx="3454298" cy="420624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8756" y="1417320"/>
            <a:ext cx="3454298" cy="128016"/>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63076" y="1874519"/>
            <a:ext cx="2905658" cy="914400"/>
          </a:xfrm>
          <a:prstGeom prst="rect">
            <a:avLst/>
          </a:prstGeom>
          <a:noFill/>
        </p:spPr>
        <p:txBody>
          <a:bodyPr wrap="square" anchor="t" lIns="0" rIns="0" tIns="0" bIns="0">
            <a:spAutoFit/>
          </a:bodyPr>
          <a:lstStyle/>
          <a:p>
            <a:pPr algn="l">
              <a:lnSpc>
                <a:spcPct val="115000"/>
              </a:lnSpc>
              <a:spcBef>
                <a:spcPts val="0"/>
              </a:spcBef>
              <a:spcAft>
                <a:spcPts val="0"/>
              </a:spcAft>
            </a:pPr>
            <a:r>
              <a:rPr sz="4200" b="1">
                <a:solidFill>
                  <a:srgbClr val="4F81BD"/>
                </a:solidFill>
                <a:latin typeface="Meiryo UI"/>
                <a:ea typeface="Meiryo UI"/>
                <a:cs typeface="Meiryo UI"/>
              </a:rPr>
              <a:t>3</a:t>
            </a:r>
          </a:p>
        </p:txBody>
      </p:sp>
      <p:sp>
        <p:nvSpPr>
          <p:cNvPr id="16" name="TextBox 15"/>
          <p:cNvSpPr txBox="1"/>
          <p:nvPr/>
        </p:nvSpPr>
        <p:spPr>
          <a:xfrm>
            <a:off x="8463076" y="2834640"/>
            <a:ext cx="2905658" cy="914400"/>
          </a:xfrm>
          <a:prstGeom prst="rect">
            <a:avLst/>
          </a:prstGeom>
          <a:noFill/>
        </p:spPr>
        <p:txBody>
          <a:bodyPr wrap="square" anchor="t" lIns="0" rIns="0" tIns="0" bIns="0">
            <a:spAutoFit/>
          </a:bodyPr>
          <a:lstStyle/>
          <a:p>
            <a:pPr algn="l">
              <a:lnSpc>
                <a:spcPct val="112000"/>
              </a:lnSpc>
              <a:spcBef>
                <a:spcPts val="0"/>
              </a:spcBef>
              <a:spcAft>
                <a:spcPts val="200"/>
              </a:spcAft>
            </a:pPr>
            <a:r>
              <a:rPr sz="1900" b="1">
                <a:solidFill>
                  <a:srgbClr val="262626"/>
                </a:solidFill>
                <a:latin typeface="Meiryo UI"/>
                <a:ea typeface="Meiryo UI"/>
                <a:cs typeface="Meiryo UI"/>
              </a:rPr>
              <a:t>そもそも範囲を狭める</a:t>
            </a:r>
          </a:p>
        </p:txBody>
      </p:sp>
      <p:sp>
        <p:nvSpPr>
          <p:cNvPr id="17" name="TextBox 16"/>
          <p:cNvSpPr txBox="1"/>
          <p:nvPr/>
        </p:nvSpPr>
        <p:spPr>
          <a:xfrm>
            <a:off x="8463076" y="3886200"/>
            <a:ext cx="2905658" cy="1554479"/>
          </a:xfrm>
          <a:prstGeom prst="rect">
            <a:avLst/>
          </a:prstGeom>
          <a:noFill/>
        </p:spPr>
        <p:txBody>
          <a:bodyPr wrap="square" anchor="t" lIns="0" rIns="0" tIns="0" bIns="0">
            <a:spAutoFit/>
          </a:bodyPr>
          <a:lstStyle/>
          <a:p>
            <a:pPr algn="l">
              <a:lnSpc>
                <a:spcPct val="122000"/>
              </a:lnSpc>
              <a:spcBef>
                <a:spcPts val="0"/>
              </a:spcBef>
              <a:spcAft>
                <a:spcPts val="0"/>
              </a:spcAft>
            </a:pPr>
            <a:r>
              <a:rPr sz="1450" b="0">
                <a:solidFill>
                  <a:srgbClr val="444C5E"/>
                </a:solidFill>
                <a:latin typeface="Meiryo UI"/>
                <a:ea typeface="Meiryo UI"/>
                <a:cs typeface="Meiryo UI"/>
              </a:rPr>
              <a:t>レビューすべき対象自体を減らす。別の方法（テスト等）で打ち取る。</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方法1・2には限界がある → 本命は方法3</a:t>
            </a:r>
          </a:p>
        </p:txBody>
      </p:sp>
      <p:sp>
        <p:nvSpPr>
          <p:cNvPr id="3" name="Content Placeholder 2"/>
          <p:cNvSpPr>
            <a:spLocks noGrp="1"/>
          </p:cNvSpPr>
          <p:nvPr>
            <p:ph idx="1"/>
          </p:nvPr>
        </p:nvSpPr>
        <p:spPr/>
        <p:txBody>
          <a:bodyPr/>
          <a:lstStyle/>
          <a:p>
            <a:pPr/>
            <a:r>
              <a:t>方法1・2は、どちらも</a:t>
            </a:r>
            <a:r>
              <a:rPr b="1"/>
              <a:t>「希少な人間の能力」を増やす／磨く</a:t>
            </a:r>
            <a:r>
              <a:t>方向</a:t>
            </a:r>
          </a:p>
          <a:p>
            <a:pPr lvl="1"/>
            <a:r>
              <a:t>→ 効果は人間という資源に線形にしか伸びず、</a:t>
            </a:r>
            <a:r>
              <a:rPr b="1"/>
              <a:t>いずれ頭打ち</a:t>
            </a:r>
          </a:p>
          <a:p>
            <a:pPr/>
            <a:r>
              <a:t>方法3は毛色が違う：</a:t>
            </a:r>
            <a:r>
              <a:rPr b="1"/>
              <a:t>人間がレビューすべき対象そのものを減らす</a:t>
            </a:r>
          </a:p>
          <a:p>
            <a:pPr lvl="1"/>
            <a:r>
              <a:t>→ 待ち行列に並ぶ</a:t>
            </a:r>
            <a:r>
              <a:rPr b="1"/>
              <a:t>仕事の量を構造的に削る</a:t>
            </a:r>
          </a:p>
          <a:p>
            <a:pPr/>
            <a:r>
              <a:t>だから3つのなかで</a:t>
            </a:r>
            <a:r>
              <a:rPr b="1"/>
              <a:t>最も費用対効果が高い</a:t>
            </a:r>
            <a:r>
              <a:t>のは方法3（私の見立て）</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方法3：機械に任せ、レビュー対象を絞る</a:t>
            </a:r>
          </a:p>
        </p:txBody>
      </p:sp>
      <p:sp>
        <p:nvSpPr>
          <p:cNvPr id="3" name="Content Placeholder 2"/>
          <p:cNvSpPr>
            <a:spLocks noGrp="1"/>
          </p:cNvSpPr>
          <p:nvPr>
            <p:ph idx="1"/>
          </p:nvPr>
        </p:nvSpPr>
        <p:spPr/>
        <p:txBody>
          <a:bodyPr/>
          <a:lstStyle/>
          <a:p>
            <a:pPr/>
            <a:r>
              <a:rPr b="1"/>
              <a:t>機械的・決定論的なプログラムで処理できる部分</a:t>
            </a:r>
            <a:r>
              <a:t>は、そちらで処理する</a:t>
            </a:r>
          </a:p>
          <a:p>
            <a:pPr lvl="1"/>
            <a:r>
              <a:t>具体的には </a:t>
            </a:r>
            <a:r>
              <a:rPr b="1"/>
              <a:t>静的解析・自動テスト</a:t>
            </a:r>
            <a:r>
              <a:t> など</a:t>
            </a:r>
          </a:p>
          <a:p>
            <a:pPr/>
            <a:r>
              <a:t>発想：</a:t>
            </a:r>
            <a:r>
              <a:rPr b="1"/>
              <a:t>仕様やテストケースが正しいかは、人間がレビューする</a:t>
            </a:r>
          </a:p>
          <a:p>
            <a:pPr/>
            <a:r>
              <a:t>そのテストに通る形で実装できていれば、</a:t>
            </a:r>
            <a:r>
              <a:rPr b="1"/>
              <a:t>実装を一行ずつ読む必要は大きく減る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ただし、ボトルネックは「移動」する</a:t>
            </a:r>
          </a:p>
        </p:txBody>
      </p:sp>
      <p:sp>
        <p:nvSpPr>
          <p:cNvPr id="3" name="Content Placeholder 2"/>
          <p:cNvSpPr>
            <a:spLocks noGrp="1"/>
          </p:cNvSpPr>
          <p:nvPr>
            <p:ph idx="1"/>
          </p:nvPr>
        </p:nvSpPr>
        <p:spPr/>
        <p:txBody>
          <a:bodyPr/>
          <a:lstStyle/>
          <a:p>
            <a:pPr/>
            <a:r>
              <a:t>制約理論：ボトルネックは解消すると</a:t>
            </a:r>
            <a:r>
              <a:rPr b="1"/>
              <a:t>消えるのではなく、次の工程へ移動</a:t>
            </a:r>
            <a:r>
              <a:t>する</a:t>
            </a:r>
          </a:p>
          <a:p>
            <a:pPr/>
            <a:r>
              <a:t>テストで範囲を狭めても、今度は</a:t>
            </a:r>
            <a:r>
              <a:rPr b="1"/>
              <a:t>「そのテストや仕様自体が正しいか」</a:t>
            </a:r>
            <a:r>
              <a:t>が残る</a:t>
            </a:r>
          </a:p>
          <a:p>
            <a:pPr/>
            <a:r>
              <a:t>変わるのはレビューの</a:t>
            </a:r>
            <a:r>
              <a:rPr b="1"/>
              <a:t>「対象」</a:t>
            </a:r>
          </a:p>
          <a:p>
            <a:pPr lvl="1"/>
            <a:r>
              <a:t>AIが量産した実装すべて → </a:t>
            </a:r>
            <a:r>
              <a:rPr b="1"/>
              <a:t>人間の意図を表す、小さく安定した面</a:t>
            </a:r>
            <a:r>
              <a:t>へ</a:t>
            </a:r>
          </a:p>
          <a:p>
            <a:pPr/>
            <a:r>
              <a:t>狙い：AIに委譲できる領域を広げ、</a:t>
            </a:r>
            <a:r>
              <a:rPr b="1"/>
              <a:t>人間の責務をより小さな面へ移す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AI時代のテスト手法：意図が宿る3つの面</a:t>
            </a:r>
          </a:p>
        </p:txBody>
      </p:sp>
      <p:sp>
        <p:nvSpPr>
          <p:cNvPr id="3" name="Rounded Rectangle 2"/>
          <p:cNvSpPr/>
          <p:nvPr/>
        </p:nvSpPr>
        <p:spPr>
          <a:xfrm>
            <a:off x="548640" y="1417320"/>
            <a:ext cx="3454298" cy="420624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417320"/>
            <a:ext cx="3454298" cy="128016"/>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59" y="1874519"/>
            <a:ext cx="2905658" cy="914400"/>
          </a:xfrm>
          <a:prstGeom prst="rect">
            <a:avLst/>
          </a:prstGeom>
          <a:noFill/>
        </p:spPr>
        <p:txBody>
          <a:bodyPr wrap="square" anchor="t" lIns="0" rIns="0" tIns="0" bIns="0">
            <a:spAutoFit/>
          </a:bodyPr>
          <a:lstStyle/>
          <a:p>
            <a:pPr algn="l">
              <a:lnSpc>
                <a:spcPct val="115000"/>
              </a:lnSpc>
              <a:spcBef>
                <a:spcPts val="0"/>
              </a:spcBef>
              <a:spcAft>
                <a:spcPts val="0"/>
              </a:spcAft>
            </a:pPr>
            <a:r>
              <a:rPr sz="4200" b="1">
                <a:solidFill>
                  <a:srgbClr val="1F497D"/>
                </a:solidFill>
                <a:latin typeface="Meiryo UI"/>
                <a:ea typeface="Meiryo UI"/>
                <a:cs typeface="Meiryo UI"/>
              </a:rPr>
              <a:t>①</a:t>
            </a:r>
          </a:p>
        </p:txBody>
      </p:sp>
      <p:sp>
        <p:nvSpPr>
          <p:cNvPr id="6" name="TextBox 5"/>
          <p:cNvSpPr txBox="1"/>
          <p:nvPr/>
        </p:nvSpPr>
        <p:spPr>
          <a:xfrm>
            <a:off x="822959" y="2834640"/>
            <a:ext cx="2905658" cy="914400"/>
          </a:xfrm>
          <a:prstGeom prst="rect">
            <a:avLst/>
          </a:prstGeom>
          <a:noFill/>
        </p:spPr>
        <p:txBody>
          <a:bodyPr wrap="square" anchor="t" lIns="0" rIns="0" tIns="0" bIns="0">
            <a:spAutoFit/>
          </a:bodyPr>
          <a:lstStyle/>
          <a:p>
            <a:pPr algn="l">
              <a:lnSpc>
                <a:spcPct val="112000"/>
              </a:lnSpc>
              <a:spcBef>
                <a:spcPts val="0"/>
              </a:spcBef>
              <a:spcAft>
                <a:spcPts val="200"/>
              </a:spcAft>
            </a:pPr>
            <a:r>
              <a:rPr sz="1900" b="1">
                <a:solidFill>
                  <a:srgbClr val="262626"/>
                </a:solidFill>
                <a:latin typeface="Meiryo UI"/>
                <a:ea typeface="Meiryo UI"/>
                <a:cs typeface="Meiryo UI"/>
              </a:rPr>
              <a:t>シナリオ</a:t>
            </a:r>
          </a:p>
        </p:txBody>
      </p:sp>
      <p:sp>
        <p:nvSpPr>
          <p:cNvPr id="7" name="TextBox 6"/>
          <p:cNvSpPr txBox="1"/>
          <p:nvPr/>
        </p:nvSpPr>
        <p:spPr>
          <a:xfrm>
            <a:off x="822959" y="3886200"/>
            <a:ext cx="2905658" cy="1554479"/>
          </a:xfrm>
          <a:prstGeom prst="rect">
            <a:avLst/>
          </a:prstGeom>
          <a:noFill/>
        </p:spPr>
        <p:txBody>
          <a:bodyPr wrap="square" anchor="t" lIns="0" rIns="0" tIns="0" bIns="0">
            <a:spAutoFit/>
          </a:bodyPr>
          <a:lstStyle/>
          <a:p>
            <a:pPr algn="l">
              <a:lnSpc>
                <a:spcPct val="122000"/>
              </a:lnSpc>
              <a:spcBef>
                <a:spcPts val="0"/>
              </a:spcBef>
              <a:spcAft>
                <a:spcPts val="0"/>
              </a:spcAft>
            </a:pPr>
            <a:r>
              <a:rPr sz="1450" b="0">
                <a:solidFill>
                  <a:srgbClr val="444C5E"/>
                </a:solidFill>
                <a:latin typeface="Meiryo UI"/>
                <a:ea typeface="Meiryo UI"/>
                <a:cs typeface="Meiryo UI"/>
              </a:rPr>
              <a:t>現実の業務に接地した、有限の受け入れシナリオ（E2E）。</a:t>
            </a:r>
          </a:p>
        </p:txBody>
      </p:sp>
      <p:sp>
        <p:nvSpPr>
          <p:cNvPr id="8" name="Rounded Rectangle 7"/>
          <p:cNvSpPr/>
          <p:nvPr/>
        </p:nvSpPr>
        <p:spPr>
          <a:xfrm>
            <a:off x="4368698" y="1417320"/>
            <a:ext cx="3454298" cy="420624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68698" y="1417320"/>
            <a:ext cx="3454298" cy="128016"/>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3018" y="1874519"/>
            <a:ext cx="2905658" cy="914400"/>
          </a:xfrm>
          <a:prstGeom prst="rect">
            <a:avLst/>
          </a:prstGeom>
          <a:noFill/>
        </p:spPr>
        <p:txBody>
          <a:bodyPr wrap="square" anchor="t" lIns="0" rIns="0" tIns="0" bIns="0">
            <a:spAutoFit/>
          </a:bodyPr>
          <a:lstStyle/>
          <a:p>
            <a:pPr algn="l">
              <a:lnSpc>
                <a:spcPct val="115000"/>
              </a:lnSpc>
              <a:spcBef>
                <a:spcPts val="0"/>
              </a:spcBef>
              <a:spcAft>
                <a:spcPts val="0"/>
              </a:spcAft>
            </a:pPr>
            <a:r>
              <a:rPr sz="4200" b="1">
                <a:solidFill>
                  <a:srgbClr val="5A9E12"/>
                </a:solidFill>
                <a:latin typeface="Meiryo UI"/>
                <a:ea typeface="Meiryo UI"/>
                <a:cs typeface="Meiryo UI"/>
              </a:rPr>
              <a:t>②</a:t>
            </a:r>
          </a:p>
        </p:txBody>
      </p:sp>
      <p:sp>
        <p:nvSpPr>
          <p:cNvPr id="11" name="TextBox 10"/>
          <p:cNvSpPr txBox="1"/>
          <p:nvPr/>
        </p:nvSpPr>
        <p:spPr>
          <a:xfrm>
            <a:off x="4643018" y="2834640"/>
            <a:ext cx="2905658" cy="914400"/>
          </a:xfrm>
          <a:prstGeom prst="rect">
            <a:avLst/>
          </a:prstGeom>
          <a:noFill/>
        </p:spPr>
        <p:txBody>
          <a:bodyPr wrap="square" anchor="t" lIns="0" rIns="0" tIns="0" bIns="0">
            <a:spAutoFit/>
          </a:bodyPr>
          <a:lstStyle/>
          <a:p>
            <a:pPr algn="l">
              <a:lnSpc>
                <a:spcPct val="112000"/>
              </a:lnSpc>
              <a:spcBef>
                <a:spcPts val="0"/>
              </a:spcBef>
              <a:spcAft>
                <a:spcPts val="200"/>
              </a:spcAft>
            </a:pPr>
            <a:r>
              <a:rPr sz="1900" b="1">
                <a:solidFill>
                  <a:srgbClr val="262626"/>
                </a:solidFill>
                <a:latin typeface="Meiryo UI"/>
                <a:ea typeface="Meiryo UI"/>
                <a:cs typeface="Meiryo UI"/>
              </a:rPr>
              <a:t>普遍条件</a:t>
            </a:r>
          </a:p>
        </p:txBody>
      </p:sp>
      <p:sp>
        <p:nvSpPr>
          <p:cNvPr id="12" name="TextBox 11"/>
          <p:cNvSpPr txBox="1"/>
          <p:nvPr/>
        </p:nvSpPr>
        <p:spPr>
          <a:xfrm>
            <a:off x="4643018" y="3886200"/>
            <a:ext cx="2905658" cy="1554479"/>
          </a:xfrm>
          <a:prstGeom prst="rect">
            <a:avLst/>
          </a:prstGeom>
          <a:noFill/>
        </p:spPr>
        <p:txBody>
          <a:bodyPr wrap="square" anchor="t" lIns="0" rIns="0" tIns="0" bIns="0">
            <a:spAutoFit/>
          </a:bodyPr>
          <a:lstStyle/>
          <a:p>
            <a:pPr algn="l">
              <a:lnSpc>
                <a:spcPct val="122000"/>
              </a:lnSpc>
              <a:spcBef>
                <a:spcPts val="0"/>
              </a:spcBef>
              <a:spcAft>
                <a:spcPts val="0"/>
              </a:spcAft>
            </a:pPr>
            <a:r>
              <a:rPr sz="1450" b="0">
                <a:solidFill>
                  <a:srgbClr val="444C5E"/>
                </a:solidFill>
                <a:latin typeface="Meiryo UI"/>
                <a:ea typeface="Meiryo UI"/>
                <a:cs typeface="Meiryo UI"/>
              </a:rPr>
              <a:t>どんな時も必ず成り立つべき前提（プロパティ）。</a:t>
            </a:r>
          </a:p>
        </p:txBody>
      </p:sp>
      <p:sp>
        <p:nvSpPr>
          <p:cNvPr id="13" name="Rounded Rectangle 12"/>
          <p:cNvSpPr/>
          <p:nvPr/>
        </p:nvSpPr>
        <p:spPr>
          <a:xfrm>
            <a:off x="8188756" y="1417320"/>
            <a:ext cx="3454298" cy="4206240"/>
          </a:xfrm>
          <a:prstGeom prst="roundRect">
            <a:avLst>
              <a:gd name="adj" fmla="val 4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8756" y="1417320"/>
            <a:ext cx="3454298" cy="128016"/>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63076" y="1874519"/>
            <a:ext cx="2905658" cy="914400"/>
          </a:xfrm>
          <a:prstGeom prst="rect">
            <a:avLst/>
          </a:prstGeom>
          <a:noFill/>
        </p:spPr>
        <p:txBody>
          <a:bodyPr wrap="square" anchor="t" lIns="0" rIns="0" tIns="0" bIns="0">
            <a:spAutoFit/>
          </a:bodyPr>
          <a:lstStyle/>
          <a:p>
            <a:pPr algn="l">
              <a:lnSpc>
                <a:spcPct val="115000"/>
              </a:lnSpc>
              <a:spcBef>
                <a:spcPts val="0"/>
              </a:spcBef>
              <a:spcAft>
                <a:spcPts val="0"/>
              </a:spcAft>
            </a:pPr>
            <a:r>
              <a:rPr sz="4200" b="1">
                <a:solidFill>
                  <a:srgbClr val="4F81BD"/>
                </a:solidFill>
                <a:latin typeface="Meiryo UI"/>
                <a:ea typeface="Meiryo UI"/>
                <a:cs typeface="Meiryo UI"/>
              </a:rPr>
              <a:t>③</a:t>
            </a:r>
          </a:p>
        </p:txBody>
      </p:sp>
      <p:sp>
        <p:nvSpPr>
          <p:cNvPr id="16" name="TextBox 15"/>
          <p:cNvSpPr txBox="1"/>
          <p:nvPr/>
        </p:nvSpPr>
        <p:spPr>
          <a:xfrm>
            <a:off x="8463076" y="2834640"/>
            <a:ext cx="2905658" cy="914400"/>
          </a:xfrm>
          <a:prstGeom prst="rect">
            <a:avLst/>
          </a:prstGeom>
          <a:noFill/>
        </p:spPr>
        <p:txBody>
          <a:bodyPr wrap="square" anchor="t" lIns="0" rIns="0" tIns="0" bIns="0">
            <a:spAutoFit/>
          </a:bodyPr>
          <a:lstStyle/>
          <a:p>
            <a:pPr algn="l">
              <a:lnSpc>
                <a:spcPct val="112000"/>
              </a:lnSpc>
              <a:spcBef>
                <a:spcPts val="0"/>
              </a:spcBef>
              <a:spcAft>
                <a:spcPts val="200"/>
              </a:spcAft>
            </a:pPr>
            <a:r>
              <a:rPr sz="1900" b="1">
                <a:solidFill>
                  <a:srgbClr val="262626"/>
                </a:solidFill>
                <a:latin typeface="Meiryo UI"/>
                <a:ea typeface="Meiryo UI"/>
                <a:cs typeface="Meiryo UI"/>
              </a:rPr>
              <a:t>設計判断</a:t>
            </a:r>
          </a:p>
        </p:txBody>
      </p:sp>
      <p:sp>
        <p:nvSpPr>
          <p:cNvPr id="17" name="TextBox 16"/>
          <p:cNvSpPr txBox="1"/>
          <p:nvPr/>
        </p:nvSpPr>
        <p:spPr>
          <a:xfrm>
            <a:off x="8463076" y="3886200"/>
            <a:ext cx="2905658" cy="1554479"/>
          </a:xfrm>
          <a:prstGeom prst="rect">
            <a:avLst/>
          </a:prstGeom>
          <a:noFill/>
        </p:spPr>
        <p:txBody>
          <a:bodyPr wrap="square" anchor="t" lIns="0" rIns="0" tIns="0" bIns="0">
            <a:spAutoFit/>
          </a:bodyPr>
          <a:lstStyle/>
          <a:p>
            <a:pPr algn="l">
              <a:lnSpc>
                <a:spcPct val="122000"/>
              </a:lnSpc>
              <a:spcBef>
                <a:spcPts val="0"/>
              </a:spcBef>
              <a:spcAft>
                <a:spcPts val="0"/>
              </a:spcAft>
            </a:pPr>
            <a:r>
              <a:rPr sz="1450" b="0">
                <a:solidFill>
                  <a:srgbClr val="444C5E"/>
                </a:solidFill>
                <a:latin typeface="Meiryo UI"/>
                <a:ea typeface="Meiryo UI"/>
                <a:cs typeface="Meiryo UI"/>
              </a:rPr>
              <a:t>保守性などのための設計方針。機能としては見えない。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① E2Eテスト（シナリオテスト）とは</a:t>
            </a:r>
          </a:p>
        </p:txBody>
      </p:sp>
      <p:sp>
        <p:nvSpPr>
          <p:cNvPr id="3" name="Content Placeholder 2"/>
          <p:cNvSpPr>
            <a:spLocks noGrp="1"/>
          </p:cNvSpPr>
          <p:nvPr>
            <p:ph idx="1"/>
          </p:nvPr>
        </p:nvSpPr>
        <p:spPr/>
        <p:txBody>
          <a:bodyPr/>
          <a:lstStyle/>
          <a:p>
            <a:pPr/>
            <a:r>
              <a:t>いわゆる</a:t>
            </a:r>
            <a:r>
              <a:rPr b="1"/>
              <a:t>総合テスト／受け入れテスト</a:t>
            </a:r>
            <a:r>
              <a:t>にあたるもの</a:t>
            </a:r>
          </a:p>
          <a:p>
            <a:pPr/>
            <a:r>
              <a:t>実際の業務で、</a:t>
            </a:r>
            <a:r>
              <a:rPr b="1"/>
              <a:t>意図どおり・現実に役立つ形で動くか</a:t>
            </a:r>
            <a:r>
              <a:t>を確かめる</a:t>
            </a:r>
          </a:p>
          <a:p>
            <a:pPr lvl="1"/>
            <a:r>
              <a:rPr b="1"/>
              <a:t>必要な要件の見落とし</a:t>
            </a:r>
            <a:r>
              <a:t>がないかを確認できる</a:t>
            </a:r>
          </a:p>
          <a:p>
            <a:pPr lvl="1"/>
            <a:r>
              <a:t>同時に、</a:t>
            </a:r>
            <a:r>
              <a:rPr b="1"/>
              <a:t>要件どおりにシステムが動くか</a:t>
            </a:r>
            <a:r>
              <a:t>も検証できる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① 具体例：タスクを「正直にキャンセル」する</a:t>
            </a:r>
          </a:p>
        </p:txBody>
      </p:sp>
      <p:sp>
        <p:nvSpPr>
          <p:cNvPr id="3" name="TextBox 2"/>
          <p:cNvSpPr txBox="1"/>
          <p:nvPr/>
        </p:nvSpPr>
        <p:spPr>
          <a:xfrm>
            <a:off x="548640" y="1325880"/>
            <a:ext cx="11094415" cy="548640"/>
          </a:xfrm>
          <a:prstGeom prst="rect">
            <a:avLst/>
          </a:prstGeom>
          <a:noFill/>
        </p:spPr>
        <p:txBody>
          <a:bodyPr wrap="square" anchor="t" lIns="0" rIns="0" tIns="0" bIns="0">
            <a:spAutoFit/>
          </a:bodyPr>
          <a:lstStyle/>
          <a:p>
            <a:pPr algn="l">
              <a:lnSpc>
                <a:spcPct val="115000"/>
              </a:lnSpc>
              <a:spcBef>
                <a:spcPts val="0"/>
              </a:spcBef>
              <a:spcAft>
                <a:spcPts val="0"/>
              </a:spcAft>
            </a:pPr>
            <a:r>
              <a:rPr sz="1120" b="1">
                <a:solidFill>
                  <a:srgbClr val="66E600"/>
                </a:solidFill>
                <a:latin typeface="Meiryo UI"/>
                <a:ea typeface="Meiryo UI"/>
                <a:cs typeface="Meiryo UI"/>
              </a:rPr>
              <a:t>■  </a:t>
            </a:r>
            <a:r>
              <a:rPr sz="1600" b="0">
                <a:solidFill>
                  <a:srgbClr val="262626"/>
                </a:solidFill>
                <a:latin typeface="Meiryo UI"/>
                <a:ea typeface="Meiryo UI"/>
                <a:cs typeface="Meiryo UI"/>
              </a:rPr>
              <a:t>Moira（自作のPJ管理システム）では、受け入れシナリオを</a:t>
            </a:r>
            <a:r>
              <a:rPr sz="1600" b="1">
                <a:solidFill>
                  <a:srgbClr val="1F497D"/>
                </a:solidFill>
                <a:latin typeface="Meiryo UI"/>
                <a:ea typeface="Meiryo UI"/>
                <a:cs typeface="Meiryo UI"/>
              </a:rPr>
              <a:t>「振る舞い（When/Then）」</a:t>
            </a:r>
            <a:r>
              <a:rPr sz="1600" b="0">
                <a:solidFill>
                  <a:srgbClr val="262626"/>
                </a:solidFill>
                <a:latin typeface="Meiryo UI"/>
                <a:ea typeface="Meiryo UI"/>
                <a:cs typeface="Meiryo UI"/>
              </a:rPr>
              <a:t>で書く</a:t>
            </a:r>
          </a:p>
        </p:txBody>
      </p:sp>
      <p:sp>
        <p:nvSpPr>
          <p:cNvPr id="4" name="Rounded Rectangle 3"/>
          <p:cNvSpPr/>
          <p:nvPr/>
        </p:nvSpPr>
        <p:spPr>
          <a:xfrm>
            <a:off x="548640" y="1965960"/>
            <a:ext cx="11094415" cy="4160520"/>
          </a:xfrm>
          <a:prstGeom prst="roundRect">
            <a:avLst>
              <a:gd name="adj" fmla="val 3000"/>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965960"/>
            <a:ext cx="118872" cy="4160520"/>
          </a:xfrm>
          <a:prstGeom prst="rect">
            <a:avLst/>
          </a:prstGeom>
          <a:solidFill>
            <a:srgbClr val="66E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240280"/>
            <a:ext cx="10454335" cy="3657600"/>
          </a:xfrm>
          <a:prstGeom prst="rect">
            <a:avLst/>
          </a:prstGeom>
          <a:noFill/>
        </p:spPr>
        <p:txBody>
          <a:bodyPr wrap="square" anchor="t" lIns="0" rIns="0" tIns="0" bIns="0">
            <a:spAutoFit/>
          </a:bodyPr>
          <a:lstStyle/>
          <a:p>
            <a:pPr>
              <a:lnSpc>
                <a:spcPct val="118000"/>
              </a:lnSpc>
              <a:spcBef>
                <a:spcPts val="0"/>
              </a:spcBef>
              <a:spcAft>
                <a:spcPts val="1000"/>
              </a:spcAft>
            </a:pPr>
            <a:r>
              <a:rPr sz="1500" b="1">
                <a:solidFill>
                  <a:srgbClr val="5A9E12"/>
                </a:solidFill>
                <a:latin typeface="Consolas"/>
                <a:ea typeface="Consolas"/>
                <a:cs typeface="Consolas"/>
              </a:rPr>
              <a:t>When  </a:t>
            </a:r>
            <a:r>
              <a:rPr sz="1500" b="0">
                <a:solidFill>
                  <a:srgbClr val="262626"/>
                </a:solidFill>
                <a:latin typeface="Meiryo UI"/>
                <a:ea typeface="Meiryo UI"/>
                <a:cs typeface="Meiryo UI"/>
              </a:rPr>
              <a:t>開発者が、進行中のタスク T を「もう不要」と判断し、理由を付けてキャンセルする</a:t>
            </a:r>
          </a:p>
          <a:p>
            <a:pPr>
              <a:lnSpc>
                <a:spcPct val="118000"/>
              </a:lnSpc>
              <a:spcBef>
                <a:spcPts val="0"/>
              </a:spcBef>
              <a:spcAft>
                <a:spcPts val="1000"/>
              </a:spcAft>
            </a:pPr>
            <a:r>
              <a:rPr sz="1500" b="1">
                <a:solidFill>
                  <a:srgbClr val="5A9E12"/>
                </a:solidFill>
                <a:latin typeface="Consolas"/>
                <a:ea typeface="Consolas"/>
                <a:cs typeface="Consolas"/>
              </a:rPr>
              <a:t>Then  </a:t>
            </a:r>
            <a:r>
              <a:rPr sz="1500" b="0">
                <a:solidFill>
                  <a:srgbClr val="262626"/>
                </a:solidFill>
                <a:latin typeface="Meiryo UI"/>
                <a:ea typeface="Meiryo UI"/>
                <a:cs typeface="Meiryo UI"/>
              </a:rPr>
              <a:t>T はアクティブな一覧（作業キュー・レビューキュー・未割当）から消える</a:t>
            </a:r>
          </a:p>
          <a:p>
            <a:pPr>
              <a:lnSpc>
                <a:spcPct val="118000"/>
              </a:lnSpc>
              <a:spcBef>
                <a:spcPts val="0"/>
              </a:spcBef>
              <a:spcAft>
                <a:spcPts val="1000"/>
              </a:spcAft>
            </a:pPr>
            <a:r>
              <a:rPr sz="1500" b="1">
                <a:solidFill>
                  <a:srgbClr val="5A9E12"/>
                </a:solidFill>
                <a:latin typeface="Consolas"/>
                <a:ea typeface="Consolas"/>
                <a:cs typeface="Consolas"/>
              </a:rPr>
              <a:t>And   </a:t>
            </a:r>
            <a:r>
              <a:rPr sz="1500" b="0">
                <a:solidFill>
                  <a:srgbClr val="262626"/>
                </a:solidFill>
                <a:latin typeface="Meiryo UI"/>
                <a:ea typeface="Meiryo UI"/>
                <a:cs typeface="Meiryo UI"/>
              </a:rPr>
              <a:t>「キャンセルされた（理由付き）」と画面で分かり、終端で、後から再び現れない</a:t>
            </a:r>
          </a:p>
          <a:p>
            <a:pPr>
              <a:lnSpc>
                <a:spcPct val="118000"/>
              </a:lnSpc>
              <a:spcBef>
                <a:spcPts val="0"/>
              </a:spcBef>
              <a:spcAft>
                <a:spcPts val="1000"/>
              </a:spcAft>
            </a:pPr>
            <a:r>
              <a:rPr sz="1500" b="1">
                <a:solidFill>
                  <a:srgbClr val="5A9E12"/>
                </a:solidFill>
                <a:latin typeface="Consolas"/>
                <a:ea typeface="Consolas"/>
                <a:cs typeface="Consolas"/>
              </a:rPr>
              <a:t>And   </a:t>
            </a:r>
            <a:r>
              <a:rPr sz="1500" b="0">
                <a:solidFill>
                  <a:srgbClr val="262626"/>
                </a:solidFill>
                <a:latin typeface="Meiryo UI"/>
                <a:ea typeface="Meiryo UI"/>
                <a:cs typeface="Meiryo UI"/>
              </a:rPr>
              <a:t>費やした3人日は『100%偽装』にされず、実コストとして正直に残る（EVは増えない）</a:t>
            </a:r>
          </a:p>
          <a:p>
            <a:pPr>
              <a:lnSpc>
                <a:spcPct val="118000"/>
              </a:lnSpc>
              <a:spcBef>
                <a:spcPts val="0"/>
              </a:spcBef>
              <a:spcAft>
                <a:spcPts val="1000"/>
              </a:spcAft>
            </a:pPr>
            <a:r>
              <a:rPr sz="1500" b="1">
                <a:solidFill>
                  <a:srgbClr val="5A9E12"/>
                </a:solidFill>
                <a:latin typeface="Consolas"/>
                <a:ea typeface="Consolas"/>
                <a:cs typeface="Consolas"/>
              </a:rPr>
              <a:t>And   </a:t>
            </a:r>
            <a:r>
              <a:rPr sz="1500" b="0">
                <a:solidFill>
                  <a:srgbClr val="262626"/>
                </a:solidFill>
                <a:latin typeface="Meiryo UI"/>
                <a:ea typeface="Meiryo UI"/>
                <a:cs typeface="Meiryo UI"/>
              </a:rPr>
              <a:t>T は削除されず、誰がいつ何の理由でキャンセルしたかが履歴に残る</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① 具体例：画面の変化（Before → After）</a:t>
            </a:r>
          </a:p>
        </p:txBody>
      </p:sp>
      <p:graphicFrame>
        <p:nvGraphicFramePr>
          <p:cNvPr id="3" name="Table 2"/>
          <p:cNvGraphicFramePr>
            <a:graphicFrameLocks noGrp="1"/>
          </p:cNvGraphicFramePr>
          <p:nvPr/>
        </p:nvGraphicFramePr>
        <p:xfrm>
          <a:off x="548640" y="1554480"/>
          <a:ext cx="11064240" cy="1828800"/>
        </p:xfrm>
        <a:graphic>
          <a:graphicData uri="http://schemas.openxmlformats.org/drawingml/2006/table">
            <a:tbl>
              <a:tblPr firstRow="1">
                <a:tableStyleId>{5C22544A-7EE6-4342-B048-85BDC9FD1C3A}</a:tableStyleId>
              </a:tblPr>
              <a:tblGrid>
                <a:gridCol w="3291840"/>
                <a:gridCol w="3291840"/>
                <a:gridCol w="4480560"/>
              </a:tblGrid>
              <a:tr h="457200">
                <a:tc>
                  <a:txBody>
                    <a:bodyPr/>
                    <a:lstStyle/>
                    <a:p>
                      <a:pPr algn="ctr">
                        <a:lnSpc>
                          <a:spcPct val="110000"/>
                        </a:lnSpc>
                      </a:pPr>
                      <a:r>
                        <a:rPr sz="1400" b="1">
                          <a:solidFill>
                            <a:srgbClr val="FFFFFF"/>
                          </a:solidFill>
                          <a:latin typeface="Meiryo UI"/>
                          <a:ea typeface="Meiryo UI"/>
                          <a:cs typeface="Meiryo UI"/>
                        </a:rPr>
                        <a:t>項目</a:t>
                      </a:r>
                    </a:p>
                  </a:txBody>
                  <a:tcPr anchor="ctr" marL="91440" marR="91440" marT="45720" marB="45720">
                    <a:solidFill>
                      <a:srgbClr val="1F497D"/>
                    </a:solidFill>
                  </a:tcPr>
                </a:tc>
                <a:tc>
                  <a:txBody>
                    <a:bodyPr/>
                    <a:lstStyle/>
                    <a:p>
                      <a:pPr algn="ctr">
                        <a:lnSpc>
                          <a:spcPct val="110000"/>
                        </a:lnSpc>
                      </a:pPr>
                      <a:r>
                        <a:rPr sz="1400" b="1">
                          <a:solidFill>
                            <a:srgbClr val="FFFFFF"/>
                          </a:solidFill>
                          <a:latin typeface="Meiryo UI"/>
                          <a:ea typeface="Meiryo UI"/>
                          <a:cs typeface="Meiryo UI"/>
                        </a:rPr>
                        <a:t>Before（キャンセル前）</a:t>
                      </a:r>
                    </a:p>
                  </a:txBody>
                  <a:tcPr anchor="ctr" marL="91440" marR="91440" marT="45720" marB="45720">
                    <a:solidFill>
                      <a:srgbClr val="1F497D"/>
                    </a:solidFill>
                  </a:tcPr>
                </a:tc>
                <a:tc>
                  <a:txBody>
                    <a:bodyPr/>
                    <a:lstStyle/>
                    <a:p>
                      <a:pPr algn="ctr">
                        <a:lnSpc>
                          <a:spcPct val="110000"/>
                        </a:lnSpc>
                      </a:pPr>
                      <a:r>
                        <a:rPr sz="1400" b="1">
                          <a:solidFill>
                            <a:srgbClr val="FFFFFF"/>
                          </a:solidFill>
                          <a:latin typeface="Meiryo UI"/>
                          <a:ea typeface="Meiryo UI"/>
                          <a:cs typeface="Meiryo UI"/>
                        </a:rPr>
                        <a:t>After（キャンセル後）</a:t>
                      </a:r>
                    </a:p>
                  </a:txBody>
                  <a:tcPr anchor="ctr" marL="91440" marR="91440" marT="45720" marB="45720">
                    <a:solidFill>
                      <a:srgbClr val="1F497D"/>
                    </a:solidFill>
                  </a:tcPr>
                </a:tc>
              </a:tr>
              <a:tr h="457200">
                <a:tc>
                  <a:txBody>
                    <a:bodyPr/>
                    <a:lstStyle/>
                    <a:p>
                      <a:pPr algn="ctr">
                        <a:lnSpc>
                          <a:spcPct val="110000"/>
                        </a:lnSpc>
                      </a:pPr>
                      <a:r>
                        <a:rPr sz="1400" b="0">
                          <a:solidFill>
                            <a:srgbClr val="262626"/>
                          </a:solidFill>
                          <a:latin typeface="Meiryo UI"/>
                          <a:ea typeface="Meiryo UI"/>
                          <a:cs typeface="Meiryo UI"/>
                        </a:rPr>
                        <a:t>実装タスクT（進行中・3人日消費）</a:t>
                      </a:r>
                    </a:p>
                  </a:txBody>
                  <a:tcPr anchor="ctr" marL="91440" marR="91440" marT="45720" marB="45720">
                    <a:solidFill>
                      <a:srgbClr val="FFFFFF"/>
                    </a:solidFill>
                  </a:tcPr>
                </a:tc>
                <a:tc>
                  <a:txBody>
                    <a:bodyPr/>
                    <a:lstStyle/>
                    <a:p>
                      <a:pPr algn="l">
                        <a:lnSpc>
                          <a:spcPct val="110000"/>
                        </a:lnSpc>
                      </a:pPr>
                      <a:r>
                        <a:rPr sz="1400" b="0">
                          <a:solidFill>
                            <a:srgbClr val="262626"/>
                          </a:solidFill>
                          <a:latin typeface="Meiryo UI"/>
                          <a:ea typeface="Meiryo UI"/>
                          <a:cs typeface="Meiryo UI"/>
                        </a:rPr>
                        <a:t>「進行中」と表示</a:t>
                      </a:r>
                    </a:p>
                  </a:txBody>
                  <a:tcPr anchor="ctr" marL="91440" marR="91440" marT="45720" marB="45720">
                    <a:solidFill>
                      <a:srgbClr val="FFFFFF"/>
                    </a:solidFill>
                  </a:tcPr>
                </a:tc>
                <a:tc>
                  <a:txBody>
                    <a:bodyPr/>
                    <a:lstStyle/>
                    <a:p>
                      <a:pPr algn="l">
                        <a:lnSpc>
                          <a:spcPct val="110000"/>
                        </a:lnSpc>
                      </a:pPr>
                      <a:r>
                        <a:rPr sz="1400" b="0">
                          <a:solidFill>
                            <a:srgbClr val="262626"/>
                          </a:solidFill>
                          <a:latin typeface="Meiryo UI"/>
                          <a:ea typeface="Meiryo UI"/>
                          <a:cs typeface="Meiryo UI"/>
                        </a:rPr>
                        <a:t>「キャンセル（理由付き）」と表示され、各キューから消える</a:t>
                      </a:r>
                    </a:p>
                  </a:txBody>
                  <a:tcPr anchor="ctr" marL="91440" marR="91440" marT="45720" marB="45720">
                    <a:solidFill>
                      <a:srgbClr val="FFFFFF"/>
                    </a:solidFill>
                  </a:tcPr>
                </a:tc>
              </a:tr>
              <a:tr h="457200">
                <a:tc>
                  <a:txBody>
                    <a:bodyPr/>
                    <a:lstStyle/>
                    <a:p>
                      <a:pPr algn="ctr">
                        <a:lnSpc>
                          <a:spcPct val="110000"/>
                        </a:lnSpc>
                      </a:pPr>
                      <a:r>
                        <a:rPr sz="1400" b="0">
                          <a:solidFill>
                            <a:srgbClr val="262626"/>
                          </a:solidFill>
                          <a:latin typeface="Meiryo UI"/>
                          <a:ea typeface="Meiryo UI"/>
                          <a:cs typeface="Meiryo UI"/>
                        </a:rPr>
                        <a:t>出来高（EV：達成した価値）</a:t>
                      </a:r>
                    </a:p>
                  </a:txBody>
                  <a:tcPr anchor="ctr" marL="91440" marR="91440" marT="45720" marB="45720">
                    <a:solidFill>
                      <a:srgbClr val="F2F4F6"/>
                    </a:solidFill>
                  </a:tcPr>
                </a:tc>
                <a:tc>
                  <a:txBody>
                    <a:bodyPr/>
                    <a:lstStyle/>
                    <a:p>
                      <a:pPr algn="l">
                        <a:lnSpc>
                          <a:spcPct val="110000"/>
                        </a:lnSpc>
                      </a:pPr>
                      <a:r>
                        <a:rPr sz="1400" b="0">
                          <a:solidFill>
                            <a:srgbClr val="262626"/>
                          </a:solidFill>
                          <a:latin typeface="Meiryo UI"/>
                          <a:ea typeface="Meiryo UI"/>
                          <a:cs typeface="Meiryo UI"/>
                        </a:rPr>
                        <a:t>—</a:t>
                      </a:r>
                    </a:p>
                  </a:txBody>
                  <a:tcPr anchor="ctr" marL="91440" marR="91440" marT="45720" marB="45720">
                    <a:solidFill>
                      <a:srgbClr val="F2F4F6"/>
                    </a:solidFill>
                  </a:tcPr>
                </a:tc>
                <a:tc>
                  <a:txBody>
                    <a:bodyPr/>
                    <a:lstStyle/>
                    <a:p>
                      <a:pPr algn="l">
                        <a:lnSpc>
                          <a:spcPct val="110000"/>
                        </a:lnSpc>
                      </a:pPr>
                      <a:r>
                        <a:rPr sz="1400" b="1">
                          <a:solidFill>
                            <a:srgbClr val="1F497D"/>
                          </a:solidFill>
                          <a:latin typeface="Meiryo UI"/>
                          <a:ea typeface="Meiryo UI"/>
                          <a:cs typeface="Meiryo UI"/>
                        </a:rPr>
                        <a:t>増えない</a:t>
                      </a:r>
                      <a:r>
                        <a:rPr sz="1400" b="0">
                          <a:solidFill>
                            <a:srgbClr val="262626"/>
                          </a:solidFill>
                          <a:latin typeface="Meiryo UI"/>
                          <a:ea typeface="Meiryo UI"/>
                          <a:cs typeface="Meiryo UI"/>
                        </a:rPr>
                        <a:t>（「とりあえず100%」をしない）</a:t>
                      </a:r>
                    </a:p>
                  </a:txBody>
                  <a:tcPr anchor="ctr" marL="91440" marR="91440" marT="45720" marB="45720">
                    <a:solidFill>
                      <a:srgbClr val="F2F4F6"/>
                    </a:solidFill>
                  </a:tcPr>
                </a:tc>
              </a:tr>
              <a:tr h="457200">
                <a:tc>
                  <a:txBody>
                    <a:bodyPr/>
                    <a:lstStyle/>
                    <a:p>
                      <a:pPr algn="ctr">
                        <a:lnSpc>
                          <a:spcPct val="110000"/>
                        </a:lnSpc>
                      </a:pPr>
                      <a:r>
                        <a:rPr sz="1400" b="0">
                          <a:solidFill>
                            <a:srgbClr val="262626"/>
                          </a:solidFill>
                          <a:latin typeface="Meiryo UI"/>
                          <a:ea typeface="Meiryo UI"/>
                          <a:cs typeface="Meiryo UI"/>
                        </a:rPr>
                        <a:t>実コスト（費やした3人日）</a:t>
                      </a:r>
                    </a:p>
                  </a:txBody>
                  <a:tcPr anchor="ctr" marL="91440" marR="91440" marT="45720" marB="45720">
                    <a:solidFill>
                      <a:srgbClr val="FFFFFF"/>
                    </a:solidFill>
                  </a:tcPr>
                </a:tc>
                <a:tc>
                  <a:txBody>
                    <a:bodyPr/>
                    <a:lstStyle/>
                    <a:p>
                      <a:pPr algn="l">
                        <a:lnSpc>
                          <a:spcPct val="110000"/>
                        </a:lnSpc>
                      </a:pPr>
                      <a:r>
                        <a:rPr sz="1400" b="0">
                          <a:solidFill>
                            <a:srgbClr val="262626"/>
                          </a:solidFill>
                          <a:latin typeface="Meiryo UI"/>
                          <a:ea typeface="Meiryo UI"/>
                          <a:cs typeface="Meiryo UI"/>
                        </a:rPr>
                        <a:t>計上済み</a:t>
                      </a:r>
                    </a:p>
                  </a:txBody>
                  <a:tcPr anchor="ctr" marL="91440" marR="91440" marT="45720" marB="45720">
                    <a:solidFill>
                      <a:srgbClr val="FFFFFF"/>
                    </a:solidFill>
                  </a:tcPr>
                </a:tc>
                <a:tc>
                  <a:txBody>
                    <a:bodyPr/>
                    <a:lstStyle/>
                    <a:p>
                      <a:pPr algn="l">
                        <a:lnSpc>
                          <a:spcPct val="110000"/>
                        </a:lnSpc>
                      </a:pPr>
                      <a:r>
                        <a:rPr sz="1400" b="1">
                          <a:solidFill>
                            <a:srgbClr val="1F497D"/>
                          </a:solidFill>
                          <a:latin typeface="Meiryo UI"/>
                          <a:ea typeface="Meiryo UI"/>
                          <a:cs typeface="Meiryo UI"/>
                        </a:rPr>
                        <a:t>そのまま残る</a:t>
                      </a:r>
                      <a:r>
                        <a:rPr sz="1400" b="0">
                          <a:solidFill>
                            <a:srgbClr val="262626"/>
                          </a:solidFill>
                          <a:latin typeface="Meiryo UI"/>
                          <a:ea typeface="Meiryo UI"/>
                          <a:cs typeface="Meiryo UI"/>
                        </a:rPr>
                        <a:t>（コストは事実だから消さない）</a:t>
                      </a:r>
                    </a:p>
                  </a:txBody>
                  <a:tcPr anchor="ctr" marL="91440" marR="91440" marT="45720" marB="45720">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① 役割分担：人間は「意図」だけを見る</a:t>
            </a:r>
          </a:p>
        </p:txBody>
      </p:sp>
      <p:sp>
        <p:nvSpPr>
          <p:cNvPr id="3" name="Content Placeholder 2"/>
          <p:cNvSpPr>
            <a:spLocks noGrp="1"/>
          </p:cNvSpPr>
          <p:nvPr>
            <p:ph idx="1"/>
          </p:nvPr>
        </p:nvSpPr>
        <p:spPr/>
        <p:txBody>
          <a:bodyPr/>
          <a:lstStyle/>
          <a:p>
            <a:pPr/>
            <a:r>
              <a:rPr b="1"/>
              <a:t>人間は、この「振る舞い」と「画面の変化」をレビューするだけでよい</a:t>
            </a:r>
          </a:p>
          <a:p>
            <a:pPr lvl="1"/>
            <a:r>
              <a:t>「キャンセルしたらこう動いてほしい」と、意図どおりか確認する</a:t>
            </a:r>
          </a:p>
          <a:p>
            <a:pPr/>
            <a:r>
              <a:rPr b="1"/>
              <a:t>E2E自動テストへの書き起こし・実行してグリーン確認は、AIに任せる</a:t>
            </a:r>
          </a:p>
          <a:p>
            <a:pPr/>
            <a:r>
              <a:t>→ 人間がレビューすべき範囲は、</a:t>
            </a:r>
            <a:r>
              <a:rPr b="1"/>
              <a:t>確実に狭まる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①「信頼する」≠「検証を捨てる」</a:t>
            </a:r>
          </a:p>
        </p:txBody>
      </p:sp>
      <p:sp>
        <p:nvSpPr>
          <p:cNvPr id="3" name="Content Placeholder 2"/>
          <p:cNvSpPr>
            <a:spLocks noGrp="1"/>
          </p:cNvSpPr>
          <p:nvPr>
            <p:ph idx="1"/>
          </p:nvPr>
        </p:nvSpPr>
        <p:spPr/>
        <p:txBody>
          <a:bodyPr/>
          <a:lstStyle/>
          <a:p>
            <a:pPr/>
            <a:r>
              <a:t>疑問：</a:t>
            </a:r>
            <a:r>
              <a:rPr b="1"/>
              <a:t>AIはシナリオを正確に反映したテストを書けるのか？</a:t>
            </a:r>
          </a:p>
          <a:p>
            <a:pPr/>
            <a:r>
              <a:t>信頼してよい理由：E2Eには</a:t>
            </a:r>
            <a:r>
              <a:rPr b="1"/>
              <a:t>機械的な歯止め</a:t>
            </a:r>
            <a:r>
              <a:t>がある（実行で green / red）</a:t>
            </a:r>
          </a:p>
          <a:p>
            <a:pPr/>
            <a:r>
              <a:t>でも</a:t>
            </a:r>
            <a:r>
              <a:rPr b="1"/>
              <a:t>グリーンでも間違いはある</a:t>
            </a:r>
            <a:r>
              <a:t>：空回りアサート／テストし忘れ</a:t>
            </a:r>
          </a:p>
          <a:p>
            <a:pPr lvl="1"/>
            <a:r>
              <a:t>テストはバグの</a:t>
            </a:r>
            <a:r>
              <a:rPr b="1"/>
              <a:t>存在は示せても、不在は証明できない</a:t>
            </a:r>
            <a:r>
              <a:t>（Dijkstra）</a:t>
            </a:r>
          </a:p>
          <a:p>
            <a:pPr/>
            <a:r>
              <a:t>→ </a:t>
            </a:r>
            <a:r>
              <a:rPr b="1"/>
              <a:t>テストやプロパティ自体を、別主体がレビュー</a:t>
            </a:r>
            <a:r>
              <a:t>。「信頼するが、検証する」</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② プロパティベーステスト（PBT）が要る理由</a:t>
            </a:r>
          </a:p>
        </p:txBody>
      </p:sp>
      <p:sp>
        <p:nvSpPr>
          <p:cNvPr id="3" name="Content Placeholder 2"/>
          <p:cNvSpPr>
            <a:spLocks noGrp="1"/>
          </p:cNvSpPr>
          <p:nvPr>
            <p:ph idx="1"/>
          </p:nvPr>
        </p:nvSpPr>
        <p:spPr/>
        <p:txBody>
          <a:bodyPr/>
          <a:lstStyle/>
          <a:p>
            <a:pPr/>
            <a:r>
              <a:t>E2Eは、しょせん</a:t>
            </a:r>
            <a:r>
              <a:rPr b="1"/>
              <a:t>具体的なシナリオの寄せ集め</a:t>
            </a:r>
          </a:p>
          <a:p>
            <a:pPr lvl="1"/>
            <a:r>
              <a:t>有限個の具体例を並べる以上、</a:t>
            </a:r>
            <a:r>
              <a:rPr b="1"/>
              <a:t>入力の組み合わせを網羅し尽くせない</a:t>
            </a:r>
          </a:p>
          <a:p>
            <a:pPr/>
            <a:r>
              <a:t>見逃すのは </a:t>
            </a:r>
            <a:r>
              <a:rPr b="1"/>
              <a:t>システムが持つべき普遍的な条件</a:t>
            </a:r>
          </a:p>
          <a:p>
            <a:pPr lvl="1"/>
            <a:r>
              <a:t>＝どんなシナリオでも必ず成り立つべき、前提条件のようなもの</a:t>
            </a:r>
          </a:p>
          <a:p>
            <a:pPr/>
            <a:r>
              <a:t>これはE2Eでは</a:t>
            </a:r>
            <a:r>
              <a:rPr b="1"/>
              <a:t>確認しきれない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②「普遍条件」の例（Moira）</a:t>
            </a:r>
          </a:p>
        </p:txBody>
      </p:sp>
      <p:sp>
        <p:nvSpPr>
          <p:cNvPr id="3" name="Content Placeholder 2"/>
          <p:cNvSpPr>
            <a:spLocks noGrp="1"/>
          </p:cNvSpPr>
          <p:nvPr>
            <p:ph idx="1"/>
          </p:nvPr>
        </p:nvSpPr>
        <p:spPr/>
        <p:txBody>
          <a:bodyPr/>
          <a:lstStyle/>
          <a:p>
            <a:pPr/>
            <a:r>
              <a:rPr b="1"/>
              <a:t>達成率（EV%）は、必ず 0〜100% の範囲に収まる</a:t>
            </a:r>
          </a:p>
          <a:p>
            <a:pPr/>
            <a:r>
              <a:rPr b="1"/>
              <a:t>記録順を入れ替えても、導出結果はまったく同じ</a:t>
            </a:r>
            <a:r>
              <a:t>（同時刻・同ID順なら）</a:t>
            </a:r>
          </a:p>
          <a:p>
            <a:pPr/>
            <a:r>
              <a:t>こうした性質は、特定のシナリオを積み上げても</a:t>
            </a:r>
            <a:r>
              <a:rPr b="1"/>
              <a:t>確かめきれない</a:t>
            </a:r>
          </a:p>
          <a:p>
            <a:pPr lvl="1"/>
            <a:r>
              <a:t>「どんな組合せでも100%超えない」「順番によらず一意」は守備範囲の外</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② エグザンプルベース vs プロパティベース</a:t>
            </a:r>
          </a:p>
        </p:txBody>
      </p:sp>
      <p:graphicFrame>
        <p:nvGraphicFramePr>
          <p:cNvPr id="3" name="Table 2"/>
          <p:cNvGraphicFramePr>
            <a:graphicFrameLocks noGrp="1"/>
          </p:cNvGraphicFramePr>
          <p:nvPr/>
        </p:nvGraphicFramePr>
        <p:xfrm>
          <a:off x="548640" y="1508760"/>
          <a:ext cx="10515600" cy="2743200"/>
        </p:xfrm>
        <a:graphic>
          <a:graphicData uri="http://schemas.openxmlformats.org/drawingml/2006/table">
            <a:tbl>
              <a:tblPr firstRow="1">
                <a:tableStyleId>{5C22544A-7EE6-4342-B048-85BDC9FD1C3A}</a:tableStyleId>
              </a:tblPr>
              <a:tblGrid>
                <a:gridCol w="1645920"/>
                <a:gridCol w="4297680"/>
                <a:gridCol w="4572000"/>
              </a:tblGrid>
              <a:tr h="457200">
                <a:tc>
                  <a:txBody>
                    <a:bodyPr/>
                    <a:lstStyle/>
                    <a:p>
                      <a:pPr algn="ctr">
                        <a:lnSpc>
                          <a:spcPct val="110000"/>
                        </a:lnSpc>
                      </a:pPr>
                      <a:r>
                        <a:rPr sz="1400" b="1">
                          <a:solidFill>
                            <a:srgbClr val="FFFFFF"/>
                          </a:solidFill>
                          <a:latin typeface="Meiryo UI"/>
                          <a:ea typeface="Meiryo UI"/>
                          <a:cs typeface="Meiryo UI"/>
                        </a:rPr>
                        <a:t>観点</a:t>
                      </a:r>
                    </a:p>
                  </a:txBody>
                  <a:tcPr anchor="ctr" marL="91440" marR="91440" marT="45720" marB="45720">
                    <a:solidFill>
                      <a:srgbClr val="1F497D"/>
                    </a:solidFill>
                  </a:tcPr>
                </a:tc>
                <a:tc>
                  <a:txBody>
                    <a:bodyPr/>
                    <a:lstStyle/>
                    <a:p>
                      <a:pPr algn="ctr">
                        <a:lnSpc>
                          <a:spcPct val="110000"/>
                        </a:lnSpc>
                      </a:pPr>
                      <a:r>
                        <a:rPr sz="1400" b="1">
                          <a:solidFill>
                            <a:srgbClr val="FFFFFF"/>
                          </a:solidFill>
                          <a:latin typeface="Meiryo UI"/>
                          <a:ea typeface="Meiryo UI"/>
                          <a:cs typeface="Meiryo UI"/>
                        </a:rPr>
                        <a:t>エグザンプルベース（従来）</a:t>
                      </a:r>
                    </a:p>
                  </a:txBody>
                  <a:tcPr anchor="ctr" marL="91440" marR="91440" marT="45720" marB="45720">
                    <a:solidFill>
                      <a:srgbClr val="1F497D"/>
                    </a:solidFill>
                  </a:tcPr>
                </a:tc>
                <a:tc>
                  <a:txBody>
                    <a:bodyPr/>
                    <a:lstStyle/>
                    <a:p>
                      <a:pPr algn="ctr">
                        <a:lnSpc>
                          <a:spcPct val="110000"/>
                        </a:lnSpc>
                      </a:pPr>
                      <a:r>
                        <a:rPr sz="1400" b="1">
                          <a:solidFill>
                            <a:srgbClr val="FFFFFF"/>
                          </a:solidFill>
                          <a:latin typeface="Meiryo UI"/>
                          <a:ea typeface="Meiryo UI"/>
                          <a:cs typeface="Meiryo UI"/>
                        </a:rPr>
                        <a:t>プロパティベース</a:t>
                      </a:r>
                    </a:p>
                  </a:txBody>
                  <a:tcPr anchor="ctr" marL="91440" marR="91440" marT="45720" marB="45720">
                    <a:solidFill>
                      <a:srgbClr val="1F497D"/>
                    </a:solidFill>
                  </a:tcPr>
                </a:tc>
              </a:tr>
              <a:tr h="457200">
                <a:tc>
                  <a:txBody>
                    <a:bodyPr/>
                    <a:lstStyle/>
                    <a:p>
                      <a:pPr algn="ctr">
                        <a:lnSpc>
                          <a:spcPct val="110000"/>
                        </a:lnSpc>
                      </a:pPr>
                      <a:r>
                        <a:rPr sz="1350" b="0">
                          <a:solidFill>
                            <a:srgbClr val="262626"/>
                          </a:solidFill>
                          <a:latin typeface="Meiryo UI"/>
                          <a:ea typeface="Meiryo UI"/>
                          <a:cs typeface="Meiryo UI"/>
                        </a:rPr>
                        <a:t>何を書くか</a:t>
                      </a:r>
                    </a:p>
                  </a:txBody>
                  <a:tcPr anchor="ctr" marL="91440" marR="91440" marT="45720" marB="45720">
                    <a:solidFill>
                      <a:srgbClr val="FFFFFF"/>
                    </a:solidFill>
                  </a:tcPr>
                </a:tc>
                <a:tc>
                  <a:txBody>
                    <a:bodyPr/>
                    <a:lstStyle/>
                    <a:p>
                      <a:pPr algn="l">
                        <a:lnSpc>
                          <a:spcPct val="110000"/>
                        </a:lnSpc>
                      </a:pPr>
                      <a:r>
                        <a:rPr sz="1350" b="0">
                          <a:solidFill>
                            <a:srgbClr val="262626"/>
                          </a:solidFill>
                          <a:latin typeface="Meiryo UI"/>
                          <a:ea typeface="Meiryo UI"/>
                          <a:cs typeface="Meiryo UI"/>
                        </a:rPr>
                        <a:t>具体的な入力1つと、その期待値が合うか</a:t>
                      </a:r>
                    </a:p>
                  </a:txBody>
                  <a:tcPr anchor="ctr" marL="91440" marR="91440" marT="45720" marB="45720">
                    <a:solidFill>
                      <a:srgbClr val="FFFFFF"/>
                    </a:solidFill>
                  </a:tcPr>
                </a:tc>
                <a:tc>
                  <a:txBody>
                    <a:bodyPr/>
                    <a:lstStyle/>
                    <a:p>
                      <a:pPr algn="l">
                        <a:lnSpc>
                          <a:spcPct val="110000"/>
                        </a:lnSpc>
                      </a:pPr>
                      <a:r>
                        <a:rPr sz="1350" b="0">
                          <a:solidFill>
                            <a:srgbClr val="262626"/>
                          </a:solidFill>
                          <a:latin typeface="Meiryo UI"/>
                          <a:ea typeface="Meiryo UI"/>
                          <a:cs typeface="Meiryo UI"/>
                        </a:rPr>
                        <a:t>「どんな入力でも成り立つ性質」を宣言</a:t>
                      </a:r>
                    </a:p>
                  </a:txBody>
                  <a:tcPr anchor="ctr" marL="91440" marR="91440" marT="45720" marB="45720">
                    <a:solidFill>
                      <a:srgbClr val="FFFFFF"/>
                    </a:solidFill>
                  </a:tcPr>
                </a:tc>
              </a:tr>
              <a:tr h="457200">
                <a:tc>
                  <a:txBody>
                    <a:bodyPr/>
                    <a:lstStyle/>
                    <a:p>
                      <a:pPr algn="ctr">
                        <a:lnSpc>
                          <a:spcPct val="110000"/>
                        </a:lnSpc>
                      </a:pPr>
                      <a:r>
                        <a:rPr sz="1350" b="0">
                          <a:solidFill>
                            <a:srgbClr val="262626"/>
                          </a:solidFill>
                          <a:latin typeface="Meiryo UI"/>
                          <a:ea typeface="Meiryo UI"/>
                          <a:cs typeface="Meiryo UI"/>
                        </a:rPr>
                        <a:t>例</a:t>
                      </a:r>
                    </a:p>
                  </a:txBody>
                  <a:tcPr anchor="ctr" marL="91440" marR="91440" marT="45720" marB="45720">
                    <a:solidFill>
                      <a:srgbClr val="F2F4F6"/>
                    </a:solidFill>
                  </a:tcPr>
                </a:tc>
                <a:tc>
                  <a:txBody>
                    <a:bodyPr/>
                    <a:lstStyle/>
                    <a:p>
                      <a:pPr algn="l">
                        <a:lnSpc>
                          <a:spcPct val="110000"/>
                        </a:lnSpc>
                      </a:pPr>
                      <a:r>
                        <a:rPr sz="1350" b="0">
                          <a:solidFill>
                            <a:srgbClr val="262626"/>
                          </a:solidFill>
                          <a:latin typeface="Meiryo UI"/>
                          <a:ea typeface="Meiryo UI"/>
                          <a:cs typeface="Meiryo UI"/>
                        </a:rPr>
                        <a:t>「AしてBしたら、結果はこの値」</a:t>
                      </a:r>
                    </a:p>
                  </a:txBody>
                  <a:tcPr anchor="ctr" marL="91440" marR="91440" marT="45720" marB="45720">
                    <a:solidFill>
                      <a:srgbClr val="F2F4F6"/>
                    </a:solidFill>
                  </a:tcPr>
                </a:tc>
                <a:tc>
                  <a:txBody>
                    <a:bodyPr/>
                    <a:lstStyle/>
                    <a:p>
                      <a:pPr algn="l">
                        <a:lnSpc>
                          <a:spcPct val="110000"/>
                        </a:lnSpc>
                      </a:pPr>
                      <a:r>
                        <a:rPr sz="1350" b="0">
                          <a:solidFill>
                            <a:srgbClr val="262626"/>
                          </a:solidFill>
                          <a:latin typeface="Meiryo UI"/>
                          <a:ea typeface="Meiryo UI"/>
                          <a:cs typeface="Meiryo UI"/>
                        </a:rPr>
                        <a:t>「どんな操作でも達成率は0〜100%」</a:t>
                      </a:r>
                    </a:p>
                  </a:txBody>
                  <a:tcPr anchor="ctr" marL="91440" marR="91440" marT="45720" marB="45720">
                    <a:solidFill>
                      <a:srgbClr val="F2F4F6"/>
                    </a:solidFill>
                  </a:tcPr>
                </a:tc>
              </a:tr>
              <a:tr h="457200">
                <a:tc>
                  <a:txBody>
                    <a:bodyPr/>
                    <a:lstStyle/>
                    <a:p>
                      <a:pPr algn="ctr">
                        <a:lnSpc>
                          <a:spcPct val="110000"/>
                        </a:lnSpc>
                      </a:pPr>
                      <a:r>
                        <a:rPr sz="1350" b="0">
                          <a:solidFill>
                            <a:srgbClr val="262626"/>
                          </a:solidFill>
                          <a:latin typeface="Meiryo UI"/>
                          <a:ea typeface="Meiryo UI"/>
                          <a:cs typeface="Meiryo UI"/>
                        </a:rPr>
                        <a:t>入力</a:t>
                      </a:r>
                    </a:p>
                  </a:txBody>
                  <a:tcPr anchor="ctr" marL="91440" marR="91440" marT="45720" marB="45720">
                    <a:solidFill>
                      <a:srgbClr val="FFFFFF"/>
                    </a:solidFill>
                  </a:tcPr>
                </a:tc>
                <a:tc>
                  <a:txBody>
                    <a:bodyPr/>
                    <a:lstStyle/>
                    <a:p>
                      <a:pPr algn="l">
                        <a:lnSpc>
                          <a:spcPct val="110000"/>
                        </a:lnSpc>
                      </a:pPr>
                      <a:r>
                        <a:rPr sz="1350" b="0">
                          <a:solidFill>
                            <a:srgbClr val="262626"/>
                          </a:solidFill>
                          <a:latin typeface="Meiryo UI"/>
                          <a:ea typeface="Meiryo UI"/>
                          <a:cs typeface="Meiryo UI"/>
                        </a:rPr>
                        <a:t>人が手で用意した数例だけ</a:t>
                      </a:r>
                    </a:p>
                  </a:txBody>
                  <a:tcPr anchor="ctr" marL="91440" marR="91440" marT="45720" marB="45720">
                    <a:solidFill>
                      <a:srgbClr val="FFFFFF"/>
                    </a:solidFill>
                  </a:tcPr>
                </a:tc>
                <a:tc>
                  <a:txBody>
                    <a:bodyPr/>
                    <a:lstStyle/>
                    <a:p>
                      <a:pPr algn="l">
                        <a:lnSpc>
                          <a:spcPct val="110000"/>
                        </a:lnSpc>
                      </a:pPr>
                      <a:r>
                        <a:rPr sz="1350" b="0">
                          <a:solidFill>
                            <a:srgbClr val="262626"/>
                          </a:solidFill>
                          <a:latin typeface="Meiryo UI"/>
                          <a:ea typeface="Meiryo UI"/>
                          <a:cs typeface="Meiryo UI"/>
                        </a:rPr>
                        <a:t>フレームワークが自動で大量にランダム生成</a:t>
                      </a:r>
                    </a:p>
                  </a:txBody>
                  <a:tcPr anchor="ctr" marL="91440" marR="91440" marT="45720" marB="45720">
                    <a:solidFill>
                      <a:srgbClr val="FFFFFF"/>
                    </a:solidFill>
                  </a:tcPr>
                </a:tc>
              </a:tr>
              <a:tr h="457200">
                <a:tc>
                  <a:txBody>
                    <a:bodyPr/>
                    <a:lstStyle/>
                    <a:p>
                      <a:pPr algn="ctr">
                        <a:lnSpc>
                          <a:spcPct val="110000"/>
                        </a:lnSpc>
                      </a:pPr>
                      <a:r>
                        <a:rPr sz="1350" b="0">
                          <a:solidFill>
                            <a:srgbClr val="262626"/>
                          </a:solidFill>
                          <a:latin typeface="Meiryo UI"/>
                          <a:ea typeface="Meiryo UI"/>
                          <a:cs typeface="Meiryo UI"/>
                        </a:rPr>
                        <a:t>強み</a:t>
                      </a:r>
                    </a:p>
                  </a:txBody>
                  <a:tcPr anchor="ctr" marL="91440" marR="91440" marT="45720" marB="45720">
                    <a:solidFill>
                      <a:srgbClr val="F2F4F6"/>
                    </a:solidFill>
                  </a:tcPr>
                </a:tc>
                <a:tc>
                  <a:txBody>
                    <a:bodyPr/>
                    <a:lstStyle/>
                    <a:p>
                      <a:pPr algn="l">
                        <a:lnSpc>
                          <a:spcPct val="110000"/>
                        </a:lnSpc>
                      </a:pPr>
                      <a:r>
                        <a:rPr sz="1350" b="0">
                          <a:solidFill>
                            <a:srgbClr val="262626"/>
                          </a:solidFill>
                          <a:latin typeface="Meiryo UI"/>
                          <a:ea typeface="Meiryo UI"/>
                          <a:cs typeface="Meiryo UI"/>
                        </a:rPr>
                        <a:t>分かりやすく、書きやすい</a:t>
                      </a:r>
                    </a:p>
                  </a:txBody>
                  <a:tcPr anchor="ctr" marL="91440" marR="91440" marT="45720" marB="45720">
                    <a:solidFill>
                      <a:srgbClr val="F2F4F6"/>
                    </a:solidFill>
                  </a:tcPr>
                </a:tc>
                <a:tc>
                  <a:txBody>
                    <a:bodyPr/>
                    <a:lstStyle/>
                    <a:p>
                      <a:pPr algn="l">
                        <a:lnSpc>
                          <a:spcPct val="110000"/>
                        </a:lnSpc>
                      </a:pPr>
                      <a:r>
                        <a:rPr sz="1350" b="0">
                          <a:solidFill>
                            <a:srgbClr val="262626"/>
                          </a:solidFill>
                          <a:latin typeface="Meiryo UI"/>
                          <a:ea typeface="Meiryo UI"/>
                          <a:cs typeface="Meiryo UI"/>
                        </a:rPr>
                        <a:t>思いつかない組合せまで探索し、反例を最小化</a:t>
                      </a:r>
                    </a:p>
                  </a:txBody>
                  <a:tcPr anchor="ctr" marL="91440" marR="91440" marT="45720" marB="45720">
                    <a:solidFill>
                      <a:srgbClr val="F2F4F6"/>
                    </a:solidFill>
                  </a:tcPr>
                </a:tc>
              </a:tr>
              <a:tr h="457200">
                <a:tc>
                  <a:txBody>
                    <a:bodyPr/>
                    <a:lstStyle/>
                    <a:p>
                      <a:pPr algn="ctr">
                        <a:lnSpc>
                          <a:spcPct val="110000"/>
                        </a:lnSpc>
                      </a:pPr>
                      <a:r>
                        <a:rPr sz="1350" b="0">
                          <a:solidFill>
                            <a:srgbClr val="262626"/>
                          </a:solidFill>
                          <a:latin typeface="Meiryo UI"/>
                          <a:ea typeface="Meiryo UI"/>
                          <a:cs typeface="Meiryo UI"/>
                        </a:rPr>
                        <a:t>弱み</a:t>
                      </a:r>
                    </a:p>
                  </a:txBody>
                  <a:tcPr anchor="ctr" marL="91440" marR="91440" marT="45720" marB="45720">
                    <a:solidFill>
                      <a:srgbClr val="FFFFFF"/>
                    </a:solidFill>
                  </a:tcPr>
                </a:tc>
                <a:tc>
                  <a:txBody>
                    <a:bodyPr/>
                    <a:lstStyle/>
                    <a:p>
                      <a:pPr algn="l">
                        <a:lnSpc>
                          <a:spcPct val="110000"/>
                        </a:lnSpc>
                      </a:pPr>
                      <a:r>
                        <a:rPr sz="1350" b="0">
                          <a:solidFill>
                            <a:srgbClr val="262626"/>
                          </a:solidFill>
                          <a:latin typeface="Meiryo UI"/>
                          <a:ea typeface="Meiryo UI"/>
                          <a:cs typeface="Meiryo UI"/>
                        </a:rPr>
                        <a:t>想像の範囲しか試せない</a:t>
                      </a:r>
                    </a:p>
                  </a:txBody>
                  <a:tcPr anchor="ctr" marL="91440" marR="91440" marT="45720" marB="45720">
                    <a:solidFill>
                      <a:srgbClr val="FFFFFF"/>
                    </a:solidFill>
                  </a:tcPr>
                </a:tc>
                <a:tc>
                  <a:txBody>
                    <a:bodyPr/>
                    <a:lstStyle/>
                    <a:p>
                      <a:pPr algn="l">
                        <a:lnSpc>
                          <a:spcPct val="110000"/>
                        </a:lnSpc>
                      </a:pPr>
                      <a:r>
                        <a:rPr sz="1350" b="1">
                          <a:solidFill>
                            <a:srgbClr val="1F497D"/>
                          </a:solidFill>
                          <a:latin typeface="Meiryo UI"/>
                          <a:ea typeface="Meiryo UI"/>
                          <a:cs typeface="Meiryo UI"/>
                        </a:rPr>
                        <a:t>普遍条件を抽出するのが難しい</a:t>
                      </a:r>
                    </a:p>
                  </a:txBody>
                  <a:tcPr anchor="ctr" marL="91440" marR="91440" marT="45720" marB="45720">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② PBTは新しくない。でもAIで障壁が下がる？</a:t>
            </a:r>
          </a:p>
        </p:txBody>
      </p:sp>
      <p:sp>
        <p:nvSpPr>
          <p:cNvPr id="3" name="Content Placeholder 2"/>
          <p:cNvSpPr>
            <a:spLocks noGrp="1"/>
          </p:cNvSpPr>
          <p:nvPr>
            <p:ph idx="1"/>
          </p:nvPr>
        </p:nvSpPr>
        <p:spPr/>
        <p:txBody>
          <a:bodyPr/>
          <a:lstStyle/>
          <a:p>
            <a:pPr/>
            <a:r>
              <a:t>PBTは</a:t>
            </a:r>
            <a:r>
              <a:rPr b="1"/>
              <a:t>新手法ではなく、20年以上前から</a:t>
            </a:r>
            <a:r>
              <a:t>ある（QuickCheck の論文は2000年）</a:t>
            </a:r>
          </a:p>
          <a:p>
            <a:pPr/>
            <a:r>
              <a:t>普及を阻んだ一因＝</a:t>
            </a:r>
            <a:r>
              <a:rPr b="1"/>
              <a:t>「普遍条件を人間が抽出する」難しさ</a:t>
            </a:r>
          </a:p>
          <a:p>
            <a:pPr/>
            <a:r>
              <a:rPr b="1"/>
              <a:t>AIは普遍条件の抽出を助けやすい</a:t>
            </a:r>
            <a:r>
              <a:t> → これまでの障壁を下げられるのでは？</a:t>
            </a:r>
          </a:p>
          <a:p>
            <a:pPr lvl="1"/>
            <a:r>
              <a:t>ただし</a:t>
            </a:r>
            <a:r>
              <a:rPr b="1"/>
              <a:t>信頼するが検証する</a:t>
            </a:r>
            <a:r>
              <a:t>：AI起案のプロパティも人間が一つずつ承認</a:t>
            </a:r>
          </a:p>
          <a:p>
            <a:pPr lvl="1"/>
            <a:r>
              <a:t>（この見立て自体は</a:t>
            </a:r>
            <a:r>
              <a:rPr b="1"/>
              <a:t>まだ仮説</a:t>
            </a:r>
            <a:r>
              <a:t>。これから実証が必要）</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③ 設計判断の検証</a:t>
            </a:r>
          </a:p>
        </p:txBody>
      </p:sp>
      <p:sp>
        <p:nvSpPr>
          <p:cNvPr id="3" name="Content Placeholder 2"/>
          <p:cNvSpPr>
            <a:spLocks noGrp="1"/>
          </p:cNvSpPr>
          <p:nvPr>
            <p:ph idx="1"/>
          </p:nvPr>
        </p:nvSpPr>
        <p:spPr/>
        <p:txBody>
          <a:bodyPr/>
          <a:lstStyle/>
          <a:p>
            <a:pPr/>
            <a:r>
              <a:t>機能・シナリオテストでは、</a:t>
            </a:r>
            <a:r>
              <a:rPr b="1"/>
              <a:t>設計判断は検証できない</a:t>
            </a:r>
          </a:p>
          <a:p>
            <a:pPr lvl="1"/>
            <a:r>
              <a:t>設計判断を</a:t>
            </a:r>
            <a:r>
              <a:rPr b="1"/>
              <a:t>守っても守らなくても、機能としては同じように動く</a:t>
            </a:r>
            <a:r>
              <a:t>から</a:t>
            </a:r>
          </a:p>
          <a:p>
            <a:pPr/>
            <a:r>
              <a:t>例）Moira「</a:t>
            </a:r>
            <a:r>
              <a:rPr b="1"/>
              <a:t>計算の『土台』と『計算そのもの』を分ける</a:t>
            </a:r>
            <a:r>
              <a:t>」</a:t>
            </a:r>
          </a:p>
          <a:p>
            <a:pPr lvl="1"/>
            <a:r>
              <a:t>破ると、同じ指標が別々に計算され</a:t>
            </a:r>
            <a:r>
              <a:rPr b="1"/>
              <a:t>「二つの真実」</a:t>
            </a:r>
            <a:r>
              <a:t>が生まれる</a:t>
            </a:r>
          </a:p>
          <a:p>
            <a:pPr/>
            <a:r>
              <a:t>数字が正しいかは見えても、</a:t>
            </a:r>
            <a:r>
              <a:rPr b="1"/>
              <a:t>「土台で1度だけ計算したか」は振る舞いから見えない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③ 設計判断：自動化できる／しづらい</a:t>
            </a:r>
          </a:p>
        </p:txBody>
      </p:sp>
      <p:sp>
        <p:nvSpPr>
          <p:cNvPr id="3" name="Content Placeholder 2"/>
          <p:cNvSpPr>
            <a:spLocks noGrp="1"/>
          </p:cNvSpPr>
          <p:nvPr>
            <p:ph idx="1"/>
          </p:nvPr>
        </p:nvSpPr>
        <p:spPr/>
        <p:txBody>
          <a:bodyPr/>
          <a:lstStyle/>
          <a:p>
            <a:pPr/>
            <a:r>
              <a:rPr b="1"/>
              <a:t>自動テストにできる</a:t>
            </a:r>
            <a:r>
              <a:t>設計判断</a:t>
            </a:r>
          </a:p>
          <a:p>
            <a:pPr lvl="1"/>
            <a:r>
              <a:t>依存方向のルール → </a:t>
            </a:r>
            <a:r>
              <a:rPr b="1"/>
              <a:t>fitness関数</a:t>
            </a:r>
            <a:r>
              <a:t>（アーキ適合性テスト）</a:t>
            </a:r>
          </a:p>
          <a:p>
            <a:pPr lvl="1"/>
            <a:r>
              <a:t>削除API無し・イベント4種だけ → </a:t>
            </a:r>
            <a:r>
              <a:rPr b="1"/>
              <a:t>型テスト</a:t>
            </a:r>
            <a:r>
              <a:t> ／ 追記専用 → </a:t>
            </a:r>
            <a:r>
              <a:rPr b="1"/>
              <a:t>PBT</a:t>
            </a:r>
          </a:p>
          <a:p>
            <a:pPr/>
            <a:r>
              <a:rPr b="1"/>
              <a:t>自動テストにしづらい</a:t>
            </a:r>
            <a:r>
              <a:t>設計判断</a:t>
            </a:r>
          </a:p>
          <a:p>
            <a:pPr lvl="1"/>
            <a:r>
              <a:t>「スキルをモデル化</a:t>
            </a:r>
            <a:r>
              <a:rPr b="1"/>
              <a:t>しない</a:t>
            </a:r>
            <a:r>
              <a:t>」など “あえてやらない” 判断</a:t>
            </a:r>
          </a:p>
          <a:p>
            <a:pPr lvl="1"/>
            <a:r>
              <a:t>AIに“無いこと”を確認させる＝</a:t>
            </a:r>
            <a:r>
              <a:rPr b="1"/>
              <a:t>負の照合</a:t>
            </a:r>
            <a:r>
              <a:t>（本質的に難しく、機械的歯止めも無い→“ある程度”の信頼）</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③ 整理：誰が・何を見るか</a:t>
            </a:r>
          </a:p>
        </p:txBody>
      </p:sp>
      <p:sp>
        <p:nvSpPr>
          <p:cNvPr id="3" name="Content Placeholder 2"/>
          <p:cNvSpPr>
            <a:spLocks noGrp="1"/>
          </p:cNvSpPr>
          <p:nvPr>
            <p:ph idx="1"/>
          </p:nvPr>
        </p:nvSpPr>
        <p:spPr/>
        <p:txBody>
          <a:bodyPr/>
          <a:lstStyle/>
          <a:p>
            <a:pPr/>
            <a:r>
              <a:rPr b="1"/>
              <a:t>設計判断そのものが正しいか（Yes / No）</a:t>
            </a:r>
            <a:r>
              <a:t> → 人間が一つずつレビュー</a:t>
            </a:r>
          </a:p>
          <a:p>
            <a:pPr/>
            <a:r>
              <a:rPr b="1"/>
              <a:t>その判断がコードに落ちているか</a:t>
            </a:r>
            <a:r>
              <a:t> → 自動テストで打ち取る／難しければAI照合／最後は目視</a:t>
            </a:r>
          </a:p>
          <a:p>
            <a:pPr/>
            <a:r>
              <a:t>そもそも</a:t>
            </a:r>
            <a:r>
              <a:rPr b="1"/>
              <a:t>テスト対象が定義上存在しないもの</a:t>
            </a:r>
            <a:r>
              <a:t>（例：分解の粒度は人間に委ねる）</a:t>
            </a:r>
          </a:p>
          <a:p>
            <a:pPr lvl="1"/>
            <a:r>
              <a:t>→ 自動テストにもAI照合にもなじまず、</a:t>
            </a:r>
            <a:r>
              <a:rPr b="1"/>
              <a:t>純粋に人間がレビュー</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まとめ：人間が立つ場所を、小さく安定した面へ</a:t>
            </a:r>
          </a:p>
        </p:txBody>
      </p:sp>
      <p:sp>
        <p:nvSpPr>
          <p:cNvPr id="3" name="Content Placeholder 2"/>
          <p:cNvSpPr>
            <a:spLocks noGrp="1"/>
          </p:cNvSpPr>
          <p:nvPr>
            <p:ph idx="1"/>
          </p:nvPr>
        </p:nvSpPr>
        <p:spPr/>
        <p:txBody>
          <a:bodyPr/>
          <a:lstStyle/>
          <a:p>
            <a:pPr/>
            <a:r>
              <a:t>AI時代のボトルネック＝</a:t>
            </a:r>
            <a:r>
              <a:rPr b="1"/>
              <a:t>人間のレビュー（最終判断）</a:t>
            </a:r>
          </a:p>
          <a:p>
            <a:pPr/>
            <a:r>
              <a:t>最もレバレッジが効くのは</a:t>
            </a:r>
            <a:r>
              <a:rPr b="1"/>
              <a:t>「レビューすべき範囲を狭める」</a:t>
            </a:r>
          </a:p>
          <a:p>
            <a:pPr/>
            <a:r>
              <a:t>それはボトルネックを消すのではなく、</a:t>
            </a:r>
            <a:r>
              <a:rPr b="1"/>
              <a:t>人間を小さく安定した面へ移す</a:t>
            </a:r>
            <a:r>
              <a:t>こと</a:t>
            </a:r>
          </a:p>
          <a:p>
            <a:pPr/>
            <a:r>
              <a:t>軸は</a:t>
            </a:r>
            <a:r>
              <a:rPr b="1"/>
              <a:t>決定論的なプログラムで品質を裏打ち</a:t>
            </a:r>
            <a:r>
              <a:t>する（中心は自動テスト）</a:t>
            </a:r>
          </a:p>
          <a:p>
            <a:pPr/>
            <a:r>
              <a:t>肝は</a:t>
            </a:r>
            <a:r>
              <a:rPr b="1"/>
              <a:t>人間の意図がテストに反映されること</a:t>
            </a:r>
            <a:r>
              <a:t> → ①E2E ②PBT ③設計判断</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まとめ：理想的な開発の流れ（Moira の例）</a:t>
            </a:r>
          </a:p>
        </p:txBody>
      </p:sp>
      <p:sp>
        <p:nvSpPr>
          <p:cNvPr id="3" name="Rounded Rectangle 2"/>
          <p:cNvSpPr/>
          <p:nvPr/>
        </p:nvSpPr>
        <p:spPr>
          <a:xfrm>
            <a:off x="548640" y="1600200"/>
            <a:ext cx="2606040" cy="1828800"/>
          </a:xfrm>
          <a:prstGeom prst="roundRect">
            <a:avLst>
              <a:gd name="adj" fmla="val 7000"/>
            </a:avLst>
          </a:prstGeom>
          <a:solidFill>
            <a:srgbClr val="E3EAF5"/>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1801368"/>
            <a:ext cx="2276856" cy="1426464"/>
          </a:xfrm>
          <a:prstGeom prst="rect">
            <a:avLst/>
          </a:prstGeom>
          <a:noFill/>
        </p:spPr>
        <p:txBody>
          <a:bodyPr wrap="square" anchor="ctr" lIns="0" rIns="0" tIns="0" bIns="0">
            <a:spAutoFit/>
          </a:bodyPr>
          <a:lstStyle/>
          <a:p>
            <a:pPr algn="ctr">
              <a:lnSpc>
                <a:spcPct val="112000"/>
              </a:lnSpc>
              <a:spcBef>
                <a:spcPts val="0"/>
              </a:spcBef>
              <a:spcAft>
                <a:spcPts val="600"/>
              </a:spcAft>
            </a:pPr>
            <a:r>
              <a:rPr sz="1500" b="1">
                <a:solidFill>
                  <a:srgbClr val="262626"/>
                </a:solidFill>
                <a:latin typeface="Meiryo UI"/>
                <a:ea typeface="Meiryo UI"/>
                <a:cs typeface="Meiryo UI"/>
              </a:rPr>
              <a:t>起点ドキュメント</a:t>
            </a:r>
          </a:p>
          <a:p>
            <a:pPr algn="ctr">
              <a:lnSpc>
                <a:spcPct val="108000"/>
              </a:lnSpc>
              <a:spcBef>
                <a:spcPts val="0"/>
              </a:spcBef>
              <a:spcAft>
                <a:spcPts val="0"/>
              </a:spcAft>
            </a:pPr>
            <a:r>
              <a:rPr sz="1200" b="0">
                <a:solidFill>
                  <a:srgbClr val="444C5E"/>
                </a:solidFill>
                <a:latin typeface="Meiryo UI"/>
                <a:ea typeface="Meiryo UI"/>
                <a:cs typeface="Meiryo UI"/>
              </a:rPr>
              <a:t>人間 × AI が対話して作る要件の起点</a:t>
            </a:r>
          </a:p>
        </p:txBody>
      </p:sp>
      <p:sp>
        <p:nvSpPr>
          <p:cNvPr id="5" name="Right Arrow 4"/>
          <p:cNvSpPr/>
          <p:nvPr/>
        </p:nvSpPr>
        <p:spPr>
          <a:xfrm>
            <a:off x="3154680" y="2377440"/>
            <a:ext cx="301752"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456432" y="1600200"/>
            <a:ext cx="2606040" cy="1828800"/>
          </a:xfrm>
          <a:prstGeom prst="roundRect">
            <a:avLst>
              <a:gd name="adj" fmla="val 7000"/>
            </a:avLst>
          </a:prstGeom>
          <a:solidFill>
            <a:srgbClr val="E3EAF5"/>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21024" y="1801368"/>
            <a:ext cx="2276856" cy="1426464"/>
          </a:xfrm>
          <a:prstGeom prst="rect">
            <a:avLst/>
          </a:prstGeom>
          <a:noFill/>
        </p:spPr>
        <p:txBody>
          <a:bodyPr wrap="square" anchor="ctr" lIns="0" rIns="0" tIns="0" bIns="0">
            <a:spAutoFit/>
          </a:bodyPr>
          <a:lstStyle/>
          <a:p>
            <a:pPr algn="ctr">
              <a:lnSpc>
                <a:spcPct val="112000"/>
              </a:lnSpc>
              <a:spcBef>
                <a:spcPts val="0"/>
              </a:spcBef>
              <a:spcAft>
                <a:spcPts val="600"/>
              </a:spcAft>
            </a:pPr>
            <a:r>
              <a:rPr sz="1500" b="1">
                <a:solidFill>
                  <a:srgbClr val="262626"/>
                </a:solidFill>
                <a:latin typeface="Meiryo UI"/>
                <a:ea typeface="Meiryo UI"/>
                <a:cs typeface="Meiryo UI"/>
              </a:rPr>
              <a:t>3つの面に分割</a:t>
            </a:r>
          </a:p>
          <a:p>
            <a:pPr algn="ctr">
              <a:lnSpc>
                <a:spcPct val="108000"/>
              </a:lnSpc>
              <a:spcBef>
                <a:spcPts val="0"/>
              </a:spcBef>
              <a:spcAft>
                <a:spcPts val="0"/>
              </a:spcAft>
            </a:pPr>
            <a:r>
              <a:rPr sz="1200" b="0">
                <a:solidFill>
                  <a:srgbClr val="444C5E"/>
                </a:solidFill>
                <a:latin typeface="Meiryo UI"/>
                <a:ea typeface="Meiryo UI"/>
                <a:cs typeface="Meiryo UI"/>
              </a:rPr>
              <a:t>シナリオ／プロパティ／設計判断</a:t>
            </a:r>
          </a:p>
        </p:txBody>
      </p:sp>
      <p:sp>
        <p:nvSpPr>
          <p:cNvPr id="8" name="Right Arrow 7"/>
          <p:cNvSpPr/>
          <p:nvPr/>
        </p:nvSpPr>
        <p:spPr>
          <a:xfrm>
            <a:off x="6062472" y="2377440"/>
            <a:ext cx="301752"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64224" y="1600200"/>
            <a:ext cx="2606040" cy="1828800"/>
          </a:xfrm>
          <a:prstGeom prst="roundRect">
            <a:avLst>
              <a:gd name="adj" fmla="val 7000"/>
            </a:avLst>
          </a:prstGeom>
          <a:solidFill>
            <a:srgbClr val="ECF7DB"/>
          </a:solidFill>
          <a:ln w="15875">
            <a:solidFill>
              <a:srgbClr val="5A9E1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28816" y="1801368"/>
            <a:ext cx="2276856" cy="1426464"/>
          </a:xfrm>
          <a:prstGeom prst="rect">
            <a:avLst/>
          </a:prstGeom>
          <a:noFill/>
        </p:spPr>
        <p:txBody>
          <a:bodyPr wrap="square" anchor="ctr" lIns="0" rIns="0" tIns="0" bIns="0">
            <a:spAutoFit/>
          </a:bodyPr>
          <a:lstStyle/>
          <a:p>
            <a:pPr algn="ctr">
              <a:lnSpc>
                <a:spcPct val="112000"/>
              </a:lnSpc>
              <a:spcBef>
                <a:spcPts val="0"/>
              </a:spcBef>
              <a:spcAft>
                <a:spcPts val="600"/>
              </a:spcAft>
            </a:pPr>
            <a:r>
              <a:rPr sz="1500" b="1">
                <a:solidFill>
                  <a:srgbClr val="262626"/>
                </a:solidFill>
                <a:latin typeface="Meiryo UI"/>
                <a:ea typeface="Meiryo UI"/>
                <a:cs typeface="Meiryo UI"/>
              </a:rPr>
              <a:t>人間が1つずつレビュー</a:t>
            </a:r>
          </a:p>
          <a:p>
            <a:pPr algn="ctr">
              <a:lnSpc>
                <a:spcPct val="108000"/>
              </a:lnSpc>
              <a:spcBef>
                <a:spcPts val="0"/>
              </a:spcBef>
              <a:spcAft>
                <a:spcPts val="0"/>
              </a:spcAft>
            </a:pPr>
            <a:r>
              <a:rPr sz="1200" b="0">
                <a:solidFill>
                  <a:srgbClr val="444C5E"/>
                </a:solidFill>
                <a:latin typeface="Meiryo UI"/>
                <a:ea typeface="Meiryo UI"/>
                <a:cs typeface="Meiryo UI"/>
              </a:rPr>
              <a:t>意図どおりか・Yes / No を判断</a:t>
            </a:r>
          </a:p>
        </p:txBody>
      </p:sp>
      <p:sp>
        <p:nvSpPr>
          <p:cNvPr id="11" name="Right Arrow 10"/>
          <p:cNvSpPr/>
          <p:nvPr/>
        </p:nvSpPr>
        <p:spPr>
          <a:xfrm>
            <a:off x="8970264" y="2377440"/>
            <a:ext cx="301752" cy="2743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272016" y="1600200"/>
            <a:ext cx="2606040" cy="1828800"/>
          </a:xfrm>
          <a:prstGeom prst="roundRect">
            <a:avLst>
              <a:gd name="adj" fmla="val 7000"/>
            </a:avLst>
          </a:prstGeom>
          <a:solidFill>
            <a:srgbClr val="E3EAF5"/>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36608" y="1801368"/>
            <a:ext cx="2276856" cy="1426464"/>
          </a:xfrm>
          <a:prstGeom prst="rect">
            <a:avLst/>
          </a:prstGeom>
          <a:noFill/>
        </p:spPr>
        <p:txBody>
          <a:bodyPr wrap="square" anchor="ctr" lIns="0" rIns="0" tIns="0" bIns="0">
            <a:spAutoFit/>
          </a:bodyPr>
          <a:lstStyle/>
          <a:p>
            <a:pPr algn="ctr">
              <a:lnSpc>
                <a:spcPct val="112000"/>
              </a:lnSpc>
              <a:spcBef>
                <a:spcPts val="0"/>
              </a:spcBef>
              <a:spcAft>
                <a:spcPts val="600"/>
              </a:spcAft>
            </a:pPr>
            <a:r>
              <a:rPr sz="1500" b="1">
                <a:solidFill>
                  <a:srgbClr val="262626"/>
                </a:solidFill>
                <a:latin typeface="Meiryo UI"/>
                <a:ea typeface="Meiryo UI"/>
                <a:cs typeface="Meiryo UI"/>
              </a:rPr>
              <a:t>AIがテスト化→自動確認</a:t>
            </a:r>
          </a:p>
          <a:p>
            <a:pPr algn="ctr">
              <a:lnSpc>
                <a:spcPct val="108000"/>
              </a:lnSpc>
              <a:spcBef>
                <a:spcPts val="0"/>
              </a:spcBef>
              <a:spcAft>
                <a:spcPts val="0"/>
              </a:spcAft>
            </a:pPr>
            <a:r>
              <a:rPr sz="1200" b="0">
                <a:solidFill>
                  <a:srgbClr val="444C5E"/>
                </a:solidFill>
                <a:latin typeface="Meiryo UI"/>
                <a:ea typeface="Meiryo UI"/>
                <a:cs typeface="Meiryo UI"/>
              </a:rPr>
              <a:t>合否は決定論的にチェック</a:t>
            </a:r>
          </a:p>
        </p:txBody>
      </p:sp>
      <p:sp>
        <p:nvSpPr>
          <p:cNvPr id="14" name="TextBox 13"/>
          <p:cNvSpPr txBox="1"/>
          <p:nvPr/>
        </p:nvSpPr>
        <p:spPr>
          <a:xfrm>
            <a:off x="548640" y="4023360"/>
            <a:ext cx="11094415" cy="1828800"/>
          </a:xfrm>
          <a:prstGeom prst="rect">
            <a:avLst/>
          </a:prstGeom>
          <a:noFill/>
        </p:spPr>
        <p:txBody>
          <a:bodyPr wrap="square" anchor="t" lIns="0" rIns="0" tIns="0" bIns="0">
            <a:spAutoFit/>
          </a:bodyPr>
          <a:lstStyle/>
          <a:p>
            <a:pPr algn="l">
              <a:lnSpc>
                <a:spcPct val="115000"/>
              </a:lnSpc>
              <a:spcBef>
                <a:spcPts val="0"/>
              </a:spcBef>
              <a:spcAft>
                <a:spcPts val="600"/>
              </a:spcAft>
            </a:pPr>
            <a:r>
              <a:rPr sz="1120" b="1">
                <a:solidFill>
                  <a:srgbClr val="66E600"/>
                </a:solidFill>
                <a:latin typeface="Meiryo UI"/>
                <a:ea typeface="Meiryo UI"/>
                <a:cs typeface="Meiryo UI"/>
              </a:rPr>
              <a:t>■  </a:t>
            </a:r>
            <a:r>
              <a:rPr sz="1600" b="1">
                <a:solidFill>
                  <a:srgbClr val="1F497D"/>
                </a:solidFill>
                <a:latin typeface="Meiryo UI"/>
                <a:ea typeface="Meiryo UI"/>
                <a:cs typeface="Meiryo UI"/>
              </a:rPr>
              <a:t>人間が所有する</a:t>
            </a:r>
            <a:r>
              <a:rPr sz="1600" b="0">
                <a:solidFill>
                  <a:srgbClr val="262626"/>
                </a:solidFill>
                <a:latin typeface="Meiryo UI"/>
                <a:ea typeface="Meiryo UI"/>
                <a:cs typeface="Meiryo UI"/>
              </a:rPr>
              <a:t>のは、3つの面を「意図どおりか／Yesか」とレビューする部分（＝小さく安定した面）</a:t>
            </a:r>
          </a:p>
          <a:p>
            <a:pPr algn="l">
              <a:lnSpc>
                <a:spcPct val="115000"/>
              </a:lnSpc>
              <a:spcBef>
                <a:spcPts val="0"/>
              </a:spcBef>
              <a:spcAft>
                <a:spcPts val="0"/>
              </a:spcAft>
            </a:pPr>
            <a:r>
              <a:rPr sz="1120" b="1">
                <a:solidFill>
                  <a:srgbClr val="66E600"/>
                </a:solidFill>
                <a:latin typeface="Meiryo UI"/>
                <a:ea typeface="Meiryo UI"/>
                <a:cs typeface="Meiryo UI"/>
              </a:rPr>
              <a:t>■  </a:t>
            </a:r>
            <a:r>
              <a:rPr sz="1600" b="0">
                <a:solidFill>
                  <a:srgbClr val="262626"/>
                </a:solidFill>
                <a:latin typeface="Meiryo UI"/>
                <a:ea typeface="Meiryo UI"/>
                <a:cs typeface="Meiryo UI"/>
              </a:rPr>
              <a:t>その先のテスト化はAIが行い、合否は機械的に確認される。</a:t>
            </a:r>
            <a:r>
              <a:rPr sz="1600" b="1">
                <a:solidFill>
                  <a:srgbClr val="1F497D"/>
                </a:solidFill>
                <a:latin typeface="Meiryo UI"/>
                <a:ea typeface="Meiryo UI"/>
                <a:cs typeface="Meiryo UI"/>
              </a:rPr>
              <a:t>意図そのものをレビューする場所</a:t>
            </a:r>
            <a:r>
              <a:rPr sz="1600" b="0">
                <a:solidFill>
                  <a:srgbClr val="262626"/>
                </a:solidFill>
                <a:latin typeface="Meiryo UI"/>
                <a:ea typeface="Meiryo UI"/>
                <a:cs typeface="Meiryo UI"/>
              </a:rPr>
              <a:t>に人間が立てる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2011680"/>
            <a:ext cx="10362895" cy="2743200"/>
          </a:xfrm>
          <a:prstGeom prst="rect">
            <a:avLst/>
          </a:prstGeom>
          <a:noFill/>
        </p:spPr>
        <p:txBody>
          <a:bodyPr wrap="square" anchor="ctr" lIns="0" rIns="0" tIns="0" bIns="0">
            <a:spAutoFit/>
          </a:bodyPr>
          <a:lstStyle/>
          <a:p>
            <a:pPr algn="ctr">
              <a:lnSpc>
                <a:spcPct val="120000"/>
              </a:lnSpc>
              <a:spcBef>
                <a:spcPts val="600"/>
              </a:spcBef>
              <a:spcAft>
                <a:spcPts val="800"/>
              </a:spcAft>
            </a:pPr>
            <a:r>
              <a:rPr sz="3000" b="1">
                <a:solidFill>
                  <a:srgbClr val="262626"/>
                </a:solidFill>
                <a:latin typeface="Meiryo UI"/>
                <a:ea typeface="Meiryo UI"/>
                <a:cs typeface="Meiryo UI"/>
              </a:rPr>
              <a:t>これは、あくまで一つの理想論。</a:t>
            </a:r>
          </a:p>
          <a:p>
            <a:pPr algn="ctr">
              <a:lnSpc>
                <a:spcPct val="120000"/>
              </a:lnSpc>
              <a:spcBef>
                <a:spcPts val="600"/>
              </a:spcBef>
              <a:spcAft>
                <a:spcPts val="800"/>
              </a:spcAft>
            </a:pPr>
            <a:r>
              <a:rPr sz="2200" b="0">
                <a:solidFill>
                  <a:srgbClr val="808080"/>
                </a:solidFill>
                <a:latin typeface="Meiryo UI"/>
                <a:ea typeface="Meiryo UI"/>
                <a:cs typeface="Meiryo UI"/>
              </a:rPr>
              <a:t>「ここは違う」「まだ渡り切れていない」――</a:t>
            </a:r>
          </a:p>
          <a:p>
            <a:pPr algn="ctr">
              <a:lnSpc>
                <a:spcPct val="120000"/>
              </a:lnSpc>
              <a:spcBef>
                <a:spcPts val="600"/>
              </a:spcBef>
              <a:spcAft>
                <a:spcPts val="800"/>
              </a:spcAft>
            </a:pPr>
            <a:r>
              <a:rPr sz="2400" b="0">
                <a:solidFill>
                  <a:srgbClr val="262626"/>
                </a:solidFill>
                <a:latin typeface="Meiryo UI"/>
                <a:ea typeface="Meiryo UI"/>
                <a:cs typeface="Meiryo UI"/>
              </a:rPr>
              <a:t>議論の </a:t>
            </a:r>
            <a:r>
              <a:rPr sz="2400" b="1">
                <a:solidFill>
                  <a:srgbClr val="1F497D"/>
                </a:solidFill>
                <a:latin typeface="Meiryo UI"/>
                <a:ea typeface="Meiryo UI"/>
                <a:cs typeface="Meiryo UI"/>
              </a:rPr>
              <a:t>たたき台</a:t>
            </a:r>
            <a:r>
              <a:rPr sz="2400" b="0">
                <a:solidFill>
                  <a:srgbClr val="262626"/>
                </a:solidFill>
                <a:latin typeface="Meiryo UI"/>
                <a:ea typeface="Meiryo UI"/>
                <a:cs typeface="Meiryo UI"/>
              </a:rPr>
              <a:t> になれば嬉しいです。</a:t>
            </a:r>
          </a:p>
          <a:p>
            <a:pPr algn="ctr">
              <a:lnSpc>
                <a:spcPct val="120000"/>
              </a:lnSpc>
              <a:spcBef>
                <a:spcPts val="600"/>
              </a:spcBef>
              <a:spcAft>
                <a:spcPts val="800"/>
              </a:spcAft>
            </a:pPr>
            <a:r>
              <a:rPr sz="1700" b="1">
                <a:solidFill>
                  <a:srgbClr val="5A9E12"/>
                </a:solidFill>
                <a:latin typeface="Meiryo UI"/>
                <a:ea typeface="Meiryo UI"/>
                <a:cs typeface="Meiryo UI"/>
              </a:rPr>
              <a:t>ご清聴ありがとうございました。</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参考・出典</a:t>
            </a:r>
          </a:p>
        </p:txBody>
      </p:sp>
      <p:sp>
        <p:nvSpPr>
          <p:cNvPr id="3" name="TextBox 2"/>
          <p:cNvSpPr txBox="1"/>
          <p:nvPr/>
        </p:nvSpPr>
        <p:spPr>
          <a:xfrm>
            <a:off x="548640" y="1417320"/>
            <a:ext cx="11094415" cy="4754880"/>
          </a:xfrm>
          <a:prstGeom prst="rect">
            <a:avLst/>
          </a:prstGeom>
          <a:noFill/>
        </p:spPr>
        <p:txBody>
          <a:bodyPr wrap="square" anchor="t" lIns="0" rIns="0" tIns="0" bIns="0">
            <a:spAutoFit/>
          </a:bodyPr>
          <a:lstStyle/>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制約理論</a:t>
            </a:r>
            <a:r>
              <a:rPr sz="1450" b="0">
                <a:solidFill>
                  <a:srgbClr val="262626"/>
                </a:solidFill>
                <a:latin typeface="Meiryo UI"/>
                <a:ea typeface="Meiryo UI"/>
                <a:cs typeface="Meiryo UI"/>
              </a:rPr>
              <a:t>：Goldratt &amp; Cox, The Goal (1984)　／　</a:t>
            </a:r>
            <a:r>
              <a:rPr sz="1450" b="1">
                <a:solidFill>
                  <a:srgbClr val="1F497D"/>
                </a:solidFill>
                <a:latin typeface="Meiryo UI"/>
                <a:ea typeface="Meiryo UI"/>
                <a:cs typeface="Meiryo UI"/>
              </a:rPr>
              <a:t>待ち行列</a:t>
            </a:r>
            <a:r>
              <a:rPr sz="1450" b="0">
                <a:solidFill>
                  <a:srgbClr val="262626"/>
                </a:solidFill>
                <a:latin typeface="Meiryo UI"/>
                <a:ea typeface="Meiryo UI"/>
                <a:cs typeface="Meiryo UI"/>
              </a:rPr>
              <a:t>：Little (1961), Kingman 近似 (1961)</a:t>
            </a:r>
          </a:p>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QuickCheck</a:t>
            </a:r>
            <a:r>
              <a:rPr sz="1450" b="0">
                <a:solidFill>
                  <a:srgbClr val="262626"/>
                </a:solidFill>
                <a:latin typeface="Meiryo UI"/>
                <a:ea typeface="Meiryo UI"/>
                <a:cs typeface="Meiryo UI"/>
              </a:rPr>
              <a:t>：Claessen &amp; Hughes, ICFP (2000)　／　</a:t>
            </a:r>
            <a:r>
              <a:rPr sz="1450" b="1">
                <a:solidFill>
                  <a:srgbClr val="1F497D"/>
                </a:solidFill>
                <a:latin typeface="Meiryo UI"/>
                <a:ea typeface="Meiryo UI"/>
                <a:cs typeface="Meiryo UI"/>
              </a:rPr>
              <a:t>「不在は証明できない」</a:t>
            </a:r>
            <a:r>
              <a:rPr sz="1450" b="0">
                <a:solidFill>
                  <a:srgbClr val="262626"/>
                </a:solidFill>
                <a:latin typeface="Meiryo UI"/>
                <a:ea typeface="Meiryo UI"/>
                <a:cs typeface="Meiryo UI"/>
              </a:rPr>
              <a:t>：Dijkstra (1970)</a:t>
            </a:r>
          </a:p>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推論コスト</a:t>
            </a:r>
            <a:r>
              <a:rPr sz="1450" b="0">
                <a:solidFill>
                  <a:srgbClr val="262626"/>
                </a:solidFill>
                <a:latin typeface="Meiryo UI"/>
                <a:ea typeface="Meiryo UI"/>
                <a:cs typeface="Meiryo UI"/>
              </a:rPr>
              <a:t>：Stanford HAI, AI Index 2025（GPT-3.5相当が約18か月で280倍超 低下）／ Epoch AI (2025)</a:t>
            </a:r>
          </a:p>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人件費比較の留保</a:t>
            </a:r>
            <a:r>
              <a:rPr sz="1450" b="0">
                <a:solidFill>
                  <a:srgbClr val="262626"/>
                </a:solidFill>
                <a:latin typeface="Meiryo UI"/>
                <a:ea typeface="Meiryo UI"/>
                <a:cs typeface="Meiryo UI"/>
              </a:rPr>
              <a:t>：Gartner（2028年にAIコスト&gt;開発者給与と予測, 2026-06）</a:t>
            </a:r>
          </a:p>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レビューが律速（傍証）</a:t>
            </a:r>
            <a:r>
              <a:rPr sz="1450" b="0">
                <a:solidFill>
                  <a:srgbClr val="262626"/>
                </a:solidFill>
                <a:latin typeface="Meiryo UI"/>
                <a:ea typeface="Meiryo UI"/>
                <a:cs typeface="Meiryo UI"/>
              </a:rPr>
              <a:t>：Faros AI (2025, レビュー時間+91%) ／ DORA 2024・2025 ／ METR (2025)</a:t>
            </a:r>
          </a:p>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AI × PBT</a:t>
            </a:r>
            <a:r>
              <a:rPr sz="1450" b="0">
                <a:solidFill>
                  <a:srgbClr val="262626"/>
                </a:solidFill>
                <a:latin typeface="Meiryo UI"/>
                <a:ea typeface="Meiryo UI"/>
                <a:cs typeface="Meiryo UI"/>
              </a:rPr>
              <a:t>：Vikram et al. (2023) ／ Anthropic, Agentic PBT (2025–2026)</a:t>
            </a:r>
          </a:p>
          <a:p>
            <a:pPr algn="l">
              <a:lnSpc>
                <a:spcPct val="120000"/>
              </a:lnSpc>
              <a:spcBef>
                <a:spcPts val="0"/>
              </a:spcBef>
              <a:spcAft>
                <a:spcPts val="800"/>
              </a:spcAft>
            </a:pPr>
            <a:r>
              <a:rPr sz="1014" b="1">
                <a:solidFill>
                  <a:srgbClr val="66E600"/>
                </a:solidFill>
                <a:latin typeface="Meiryo UI"/>
                <a:ea typeface="Meiryo UI"/>
                <a:cs typeface="Meiryo UI"/>
              </a:rPr>
              <a:t>■  </a:t>
            </a:r>
            <a:r>
              <a:rPr sz="1450" b="1">
                <a:solidFill>
                  <a:srgbClr val="1F497D"/>
                </a:solidFill>
                <a:latin typeface="Meiryo UI"/>
                <a:ea typeface="Meiryo UI"/>
                <a:cs typeface="Meiryo UI"/>
              </a:rPr>
              <a:t>Moira 具体例</a:t>
            </a:r>
            <a:r>
              <a:rPr sz="1450" b="0">
                <a:solidFill>
                  <a:srgbClr val="808080"/>
                </a:solidFill>
                <a:latin typeface="Meiryo UI"/>
                <a:ea typeface="Meiryo UI"/>
                <a:cs typeface="Meiryo UI"/>
              </a:rPr>
              <a:t>：未公開の個人プロジェクトの内部設計文書（プロパティ目録・設計判断カタログ 等）</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algn="ctr">
          <a:solidFill>
            <a:schemeClr val="tx1"/>
          </a:solidFill>
          <a:miter lim="800000"/>
          <a:headEnd/>
          <a:tailEnd/>
        </a:ln>
        <a:effectLst/>
      </a:spPr>
      <a:bodyPr wrap="square" anchor="t" anchorCtr="0">
        <a:noAutofit/>
      </a:bodyPr>
      <a:lstStyle>
        <a:defPPr>
          <a:defRPr sz="1400" dirty="0" smtClean="0">
            <a:latin typeface="+mj-ea"/>
            <a:ea typeface="+mj-ea"/>
          </a:defRPr>
        </a:defPPr>
      </a:lstStyle>
    </a:sp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F0384AF1D65D1642A8C187E2570A9A03" ma:contentTypeVersion="15" ma:contentTypeDescription="新しいドキュメントを作成します。" ma:contentTypeScope="" ma:versionID="52e86c7b0c170589c6e1e43da5cc330f">
  <xsd:schema xmlns:xsd="http://www.w3.org/2001/XMLSchema" xmlns:xs="http://www.w3.org/2001/XMLSchema" xmlns:p="http://schemas.microsoft.com/office/2006/metadata/properties" xmlns:ns2="e286e205-ec21-4675-8eb3-3d4e69f01281" xmlns:ns3="02c870c2-f3de-4442-961e-e8552575f107" targetNamespace="http://schemas.microsoft.com/office/2006/metadata/properties" ma:root="true" ma:fieldsID="cbcffc37ed1ec1443c2e7393228acbf0" ns2:_="" ns3:_="">
    <xsd:import namespace="e286e205-ec21-4675-8eb3-3d4e69f01281"/>
    <xsd:import namespace="02c870c2-f3de-4442-961e-e8552575f10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MediaServiceDateTaken"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86e205-ec21-4675-8eb3-3d4e69f012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9" nillable="true" ma:taxonomy="true" ma:internalName="lcf76f155ced4ddcb4097134ff3c332f" ma:taxonomyFieldName="MediaServiceImageTags" ma:displayName="画像タグ" ma:readOnly="false" ma:fieldId="{5cf76f15-5ced-4ddc-b409-7134ff3c332f}" ma:taxonomyMulti="true" ma:sspId="aaf6a030-824e-4ea7-8b6e-f1e5ae1b0b50"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2c870c2-f3de-4442-961e-e8552575f107" elementFormDefault="qualified">
    <xsd:import namespace="http://schemas.microsoft.com/office/2006/documentManagement/types"/>
    <xsd:import namespace="http://schemas.microsoft.com/office/infopath/2007/PartnerControls"/>
    <xsd:element name="SharedWithUsers" ma:index="16"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有相手の詳細情報" ma:internalName="SharedWithDetails" ma:readOnly="true">
      <xsd:simpleType>
        <xsd:restriction base="dms:Note">
          <xsd:maxLength value="255"/>
        </xsd:restriction>
      </xsd:simpleType>
    </xsd:element>
    <xsd:element name="TaxCatchAll" ma:index="20" nillable="true" ma:displayName="Taxonomy Catch All Column" ma:hidden="true" ma:list="{556ffff5-0a6a-4e7a-83ba-6fdaea500cf3}" ma:internalName="TaxCatchAll" ma:showField="CatchAllData" ma:web="02c870c2-f3de-4442-961e-e8552575f10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286e205-ec21-4675-8eb3-3d4e69f01281">
      <Terms xmlns="http://schemas.microsoft.com/office/infopath/2007/PartnerControls"/>
    </lcf76f155ced4ddcb4097134ff3c332f>
    <TaxCatchAll xmlns="02c870c2-f3de-4442-961e-e8552575f107" xsi:nil="true"/>
  </documentManagement>
</p:properties>
</file>

<file path=customXml/itemProps1.xml><?xml version="1.0" encoding="utf-8"?>
<ds:datastoreItem xmlns:ds="http://schemas.openxmlformats.org/officeDocument/2006/customXml" ds:itemID="{3773857C-4894-4CD6-AD86-83DCA06DDC9E}">
  <ds:schemaRefs>
    <ds:schemaRef ds:uri="http://schemas.microsoft.com/sharepoint/v3/contenttype/forms"/>
  </ds:schemaRefs>
</ds:datastoreItem>
</file>

<file path=customXml/itemProps2.xml><?xml version="1.0" encoding="utf-8"?>
<ds:datastoreItem xmlns:ds="http://schemas.openxmlformats.org/officeDocument/2006/customXml" ds:itemID="{A467868B-4D08-4A13-9F52-A0B35F29AE1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86e205-ec21-4675-8eb3-3d4e69f01281"/>
    <ds:schemaRef ds:uri="02c870c2-f3de-4442-961e-e8552575f10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D53C6E8-01C5-4C66-BAD9-A3A80AD30FA6}">
  <ds:schemaRefs>
    <ds:schemaRef ds:uri="http://purl.org/dc/dcmitype/"/>
    <ds:schemaRef ds:uri="http://schemas.openxmlformats.org/package/2006/metadata/core-properties"/>
    <ds:schemaRef ds:uri="http://schemas.microsoft.com/office/2006/documentManagement/types"/>
    <ds:schemaRef ds:uri="http://purl.org/dc/elements/1.1/"/>
    <ds:schemaRef ds:uri="http://schemas.microsoft.com/office/infopath/2007/PartnerControls"/>
    <ds:schemaRef ds:uri="e286e205-ec21-4675-8eb3-3d4e69f01281"/>
    <ds:schemaRef ds:uri="http://schemas.microsoft.com/office/2006/metadata/properties"/>
    <ds:schemaRef ds:uri="http://purl.org/dc/terms/"/>
    <ds:schemaRef ds:uri="02c870c2-f3de-4442-961e-e8552575f10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28334</TotalTime>
  <Words>5137</Words>
  <Application>Microsoft Office PowerPoint</Application>
  <PresentationFormat>ワイド画面</PresentationFormat>
  <Paragraphs>642</Paragraphs>
  <Slides>58</Slides>
  <Notes>49</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58</vt:i4>
      </vt:variant>
    </vt:vector>
  </HeadingPairs>
  <TitlesOfParts>
    <vt:vector size="64" baseType="lpstr">
      <vt:lpstr>Meiryo UI</vt:lpstr>
      <vt:lpstr>游ゴシック</vt:lpstr>
      <vt:lpstr>Arial</vt:lpstr>
      <vt:lpstr>Calibri</vt:lpstr>
      <vt:lpstr>Wingdings</vt:lpstr>
      <vt:lpstr>Office テーマ</vt:lpstr>
      <vt:lpstr>PowerPoint プレゼンテーション</vt:lpstr>
      <vt:lpstr>すこしだけ会社紹介をさせてください (プライム・ブレインズ木野)</vt:lpstr>
      <vt:lpstr>自己紹介</vt:lpstr>
      <vt:lpstr>目次</vt:lpstr>
      <vt:lpstr>PowerPoint プレゼンテーション</vt:lpstr>
      <vt:lpstr>1.なぜプロジェクトは遅延するのか</vt:lpstr>
      <vt:lpstr>1.なぜプロジェクトは遅延するのか</vt:lpstr>
      <vt:lpstr>1.なぜプロジェクトは遅延するのか</vt:lpstr>
      <vt:lpstr>PowerPoint プレゼンテーション</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2. EVM (Earned Value Management) とは？</vt:lpstr>
      <vt:lpstr>PowerPoint プレゼンテーション</vt:lpstr>
      <vt:lpstr>3. SPI (Schedule Performance Index) によるプロジェクト全体概況</vt:lpstr>
      <vt:lpstr>3. SPI (Schedule Performance Index) によるプロジェクト全体概況</vt:lpstr>
      <vt:lpstr>3. SPI (Schedule Performance Index) によるプロジェクト全体概況</vt:lpstr>
      <vt:lpstr>3. SPI (Schedule Performance Index) によるプロジェクト全体概況</vt:lpstr>
      <vt:lpstr>3. SPI (Schedule Performance Index) によるプロジェクト全体概況</vt:lpstr>
      <vt:lpstr>3. SPI (Schedule Performance Index) によるプロジェクト全体概況</vt:lpstr>
      <vt:lpstr>PowerPoint プレゼンテーション</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4. 余裕（バッファ）の持たせ方</vt:lpstr>
      <vt:lpstr>PowerPoint プレゼンテーション</vt:lpstr>
      <vt:lpstr>5. プロジェクトの完了予想日の可視化</vt:lpstr>
      <vt:lpstr>5. プロジェクトの完了予想日の可視化</vt:lpstr>
      <vt:lpstr>5. プロジェクトの完了予想日の可視化</vt:lpstr>
      <vt:lpstr>5. プロジェクトの完了予想日の可視化</vt:lpstr>
      <vt:lpstr>5. プロジェクトの完了予想日の可視化</vt:lpstr>
      <vt:lpstr>PowerPoint プレゼンテーション</vt:lpstr>
      <vt:lpstr>まとめ</vt:lpstr>
      <vt:lpstr>参考文献</vt:lpstr>
      <vt:lpstr>PowerPoint プレゼンテーション</vt:lpstr>
    </vt:vector>
  </TitlesOfParts>
  <Company>プライム・ブレインズ</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AI時代の開発プロジェクトにおいて、ボトルネックは何か？</dc:title>
  <dc:creator>中尾幸志郎</dc:creator>
  <dc:description>G011-01</dc:description>
  <cp:lastModifiedBy>中尾幸志郎</cp:lastModifiedBy>
  <cp:revision>5145</cp:revision>
  <cp:lastPrinted>2020-11-17T10:50:57Z</cp:lastPrinted>
  <dcterms:modified xsi:type="dcterms:W3CDTF">2025-07-03T02:11:18Z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0x010100F0384AF1D65D1642A8C187E2570A9A03</vt:lpwstr>
  </property>
  <property fmtid="{D5CDD505-2E9C-101B-9397-08002B2CF9AE}" pid="3" name="_dlc_DocIdItemGuid">
    <vt:lpwstr>6e0e2c97-9250-48da-90ec-c6b3efe95aeb</vt:lpwstr>
  </property>
  <property fmtid="{D5CDD505-2E9C-101B-9397-08002B2CF9AE}" pid="4" name="MediaServiceImageTags">
    <vt:lpwstr/>
  </property>
</Properties>
</file>